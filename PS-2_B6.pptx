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4" r:id="rId10"/>
    <p:sldId id="267" r:id="rId11"/>
    <p:sldId id="266" r:id="rId12"/>
    <p:sldId id="286" r:id="rId13"/>
    <p:sldId id="293" r:id="rId14"/>
    <p:sldId id="269" r:id="rId15"/>
    <p:sldId id="285" r:id="rId16"/>
    <p:sldId id="270" r:id="rId17"/>
    <p:sldId id="271" r:id="rId18"/>
    <p:sldId id="272" r:id="rId19"/>
    <p:sldId id="273" r:id="rId20"/>
    <p:sldId id="292" r:id="rId21"/>
    <p:sldId id="274" r:id="rId22"/>
    <p:sldId id="275" r:id="rId23"/>
    <p:sldId id="276" r:id="rId24"/>
    <p:sldId id="277" r:id="rId25"/>
    <p:sldId id="278" r:id="rId26"/>
    <p:sldId id="281" r:id="rId27"/>
    <p:sldId id="280" r:id="rId28"/>
    <p:sldId id="282" r:id="rId29"/>
    <p:sldId id="283" r:id="rId30"/>
    <p:sldId id="284" r:id="rId31"/>
    <p:sldId id="291" r:id="rId32"/>
    <p:sldId id="26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0458" autoAdjust="0"/>
  </p:normalViewPr>
  <p:slideViewPr>
    <p:cSldViewPr snapToGrid="0">
      <p:cViewPr varScale="1">
        <p:scale>
          <a:sx n="74" d="100"/>
          <a:sy n="74" d="100"/>
        </p:scale>
        <p:origin x="79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2007A-DE98-BCF1-1F32-E2D4A58A7F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08CFC0-7846-F794-06BC-89A2FB6663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30C1C6-2709-5CEB-57D1-FCA85C91C80B}"/>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5" name="Footer Placeholder 4">
            <a:extLst>
              <a:ext uri="{FF2B5EF4-FFF2-40B4-BE49-F238E27FC236}">
                <a16:creationId xmlns:a16="http://schemas.microsoft.com/office/drawing/2014/main" id="{B9B50C16-48ED-92B8-2FD3-88273B2EB9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9B7A88-8830-8ABE-8366-AC7FFD4A55CD}"/>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517779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5738E-4E35-FC91-C621-8F160E661A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AA280F-230C-88C2-EEEE-20D4E23326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B2AE8C-CCF2-8422-C475-08F1BC097DC6}"/>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5" name="Footer Placeholder 4">
            <a:extLst>
              <a:ext uri="{FF2B5EF4-FFF2-40B4-BE49-F238E27FC236}">
                <a16:creationId xmlns:a16="http://schemas.microsoft.com/office/drawing/2014/main" id="{BBF23428-8096-13B7-E4EF-C7B7CE9748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2B1D7-6BAB-6271-AC9D-2AE9B6BC1503}"/>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3968452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8C5D8-BAD0-6BC4-A553-C43193A775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5D8A88-86AD-EC58-DBA2-D5AEE632AD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6FBF0D-5766-6631-CFC1-7A9CEA6DD6C5}"/>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5" name="Footer Placeholder 4">
            <a:extLst>
              <a:ext uri="{FF2B5EF4-FFF2-40B4-BE49-F238E27FC236}">
                <a16:creationId xmlns:a16="http://schemas.microsoft.com/office/drawing/2014/main" id="{76BA59A7-18A4-122D-61DA-3C089DF651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4678FC-7305-8086-7589-AA0B04048513}"/>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520877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AA90-D444-DA86-B73D-0B9FB7C993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50AC9B-99BE-E509-0A75-4AF9692904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13063C-1BF6-F16D-1771-FC49AE88DC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D9F1830-F076-DF20-EDB8-E6FFF08FA7AF}"/>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6" name="Footer Placeholder 5">
            <a:extLst>
              <a:ext uri="{FF2B5EF4-FFF2-40B4-BE49-F238E27FC236}">
                <a16:creationId xmlns:a16="http://schemas.microsoft.com/office/drawing/2014/main" id="{A31A3D3A-8020-CC34-456B-6350E28A19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52A332-24AA-D570-D717-F1A19B0E512C}"/>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335157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4BA54-35E7-A263-2F32-0F92F33276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D53AD4-3ADD-9F18-ABA8-CF90A6F273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222907-89E6-C508-4AE9-CACDE498A4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721AC2-9F1D-E050-F033-295B5F66C8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D5A3C5-E9AF-B0C3-5F3F-6C0B7FFB2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88DBAA-CA0A-739C-4DDB-6658CBE8AF3E}"/>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8" name="Footer Placeholder 7">
            <a:extLst>
              <a:ext uri="{FF2B5EF4-FFF2-40B4-BE49-F238E27FC236}">
                <a16:creationId xmlns:a16="http://schemas.microsoft.com/office/drawing/2014/main" id="{753F346F-1C5A-42DD-678E-6BB24101ACA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41783B-14A8-85DD-BDC8-131F18370930}"/>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1147722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F2E9B-D36B-1164-1A38-2D9EB9269B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33242D-9FC7-D813-2F29-E3CCD54E0F98}"/>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4" name="Footer Placeholder 3">
            <a:extLst>
              <a:ext uri="{FF2B5EF4-FFF2-40B4-BE49-F238E27FC236}">
                <a16:creationId xmlns:a16="http://schemas.microsoft.com/office/drawing/2014/main" id="{A07C5784-E7CF-4AA1-ABCB-D923C42BAA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0DB353-9BE4-0EF6-1B58-3B722D0448E6}"/>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3296818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C08F5C-6592-75C3-957E-D97C1A4027FB}"/>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3" name="Footer Placeholder 2">
            <a:extLst>
              <a:ext uri="{FF2B5EF4-FFF2-40B4-BE49-F238E27FC236}">
                <a16:creationId xmlns:a16="http://schemas.microsoft.com/office/drawing/2014/main" id="{FA859FC1-96DD-2C74-74AC-07C97E1370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268478-1A41-B8D3-7E6F-8FBA922C339B}"/>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3486494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0E2DA-0E2E-C074-21B7-77B4F52DE7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C72C0F-1058-FEF6-6D5D-57988C074D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C5D773-F1E2-920A-E057-4C63D3CD7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7AA484-E527-706F-E050-9C8AD4F6EF37}"/>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6" name="Footer Placeholder 5">
            <a:extLst>
              <a:ext uri="{FF2B5EF4-FFF2-40B4-BE49-F238E27FC236}">
                <a16:creationId xmlns:a16="http://schemas.microsoft.com/office/drawing/2014/main" id="{2B5A0ACC-8451-9B1F-2E7E-2D83513F82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FC018D-9971-F07B-DA52-B697142A8CE7}"/>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175455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C510E-2B58-B7BC-5D99-69A62E9D10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4D15AA-0B1F-5834-C9A7-1D8E4F5B97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D8D6765-CBC1-F555-6559-72498434C4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7832DE-2729-4F11-699B-F3DDB4FFA43D}"/>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6" name="Footer Placeholder 5">
            <a:extLst>
              <a:ext uri="{FF2B5EF4-FFF2-40B4-BE49-F238E27FC236}">
                <a16:creationId xmlns:a16="http://schemas.microsoft.com/office/drawing/2014/main" id="{A6FB465D-5D4B-1340-0C4F-436AB5FCE6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442AA8-0931-4E06-6E70-93D9F8881314}"/>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51511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6BBFC-675C-BE3F-1BC0-ABD9E3A584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DEC7C2-B781-05E0-786D-351679FE89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DCA506-E1CC-D9BD-F5EC-DF0B2904985C}"/>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5" name="Footer Placeholder 4">
            <a:extLst>
              <a:ext uri="{FF2B5EF4-FFF2-40B4-BE49-F238E27FC236}">
                <a16:creationId xmlns:a16="http://schemas.microsoft.com/office/drawing/2014/main" id="{C1E120AC-7F16-C6EE-DAE2-C52D3C6BBC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6CD8F6-EDAF-56B9-FDAE-B4AC2BEC985C}"/>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4101401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8758BD-B3B3-8B4F-E20D-DEA112621B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3945B7-BAAA-9BB1-3D42-3FB4798A4D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5E9C89-5DEC-6FDD-7A9C-B17DF2AB5D16}"/>
              </a:ext>
            </a:extLst>
          </p:cNvPr>
          <p:cNvSpPr>
            <a:spLocks noGrp="1"/>
          </p:cNvSpPr>
          <p:nvPr>
            <p:ph type="dt" sz="half" idx="10"/>
          </p:nvPr>
        </p:nvSpPr>
        <p:spPr/>
        <p:txBody>
          <a:bodyPr/>
          <a:lstStyle/>
          <a:p>
            <a:fld id="{199097D6-DFAA-4C9C-BB93-72719A9F03C0}" type="datetimeFigureOut">
              <a:rPr lang="en-IN" smtClean="0"/>
              <a:t>17-06-2025</a:t>
            </a:fld>
            <a:endParaRPr lang="en-IN"/>
          </a:p>
        </p:txBody>
      </p:sp>
      <p:sp>
        <p:nvSpPr>
          <p:cNvPr id="5" name="Footer Placeholder 4">
            <a:extLst>
              <a:ext uri="{FF2B5EF4-FFF2-40B4-BE49-F238E27FC236}">
                <a16:creationId xmlns:a16="http://schemas.microsoft.com/office/drawing/2014/main" id="{0625FD07-4E86-25C8-565C-41AFD765FA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91EC99-4D27-1616-563B-6D889203DCBA}"/>
              </a:ext>
            </a:extLst>
          </p:cNvPr>
          <p:cNvSpPr>
            <a:spLocks noGrp="1"/>
          </p:cNvSpPr>
          <p:nvPr>
            <p:ph type="sldNum" sz="quarter" idx="12"/>
          </p:nvPr>
        </p:nvSpPr>
        <p:spPr/>
        <p:txBody>
          <a:bodyPr/>
          <a:lstStyle/>
          <a:p>
            <a:fld id="{876A8A52-5605-4853-94AC-A136840A6B54}" type="slidenum">
              <a:rPr lang="en-IN" smtClean="0"/>
              <a:t>‹#›</a:t>
            </a:fld>
            <a:endParaRPr lang="en-IN"/>
          </a:p>
        </p:txBody>
      </p:sp>
    </p:spTree>
    <p:extLst>
      <p:ext uri="{BB962C8B-B14F-4D97-AF65-F5344CB8AC3E}">
        <p14:creationId xmlns:p14="http://schemas.microsoft.com/office/powerpoint/2010/main" val="4028360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94FA26-F4D1-4BB3-AB59-EBEAD4B157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D25334-5B08-1D8C-0D33-B13EDDFCB8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2B6A0C-DB05-E7C2-1CCF-388C9F9678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9097D6-DFAA-4C9C-BB93-72719A9F03C0}" type="datetimeFigureOut">
              <a:rPr lang="en-IN" smtClean="0"/>
              <a:t>17-06-2025</a:t>
            </a:fld>
            <a:endParaRPr lang="en-IN"/>
          </a:p>
        </p:txBody>
      </p:sp>
      <p:sp>
        <p:nvSpPr>
          <p:cNvPr id="5" name="Footer Placeholder 4">
            <a:extLst>
              <a:ext uri="{FF2B5EF4-FFF2-40B4-BE49-F238E27FC236}">
                <a16:creationId xmlns:a16="http://schemas.microsoft.com/office/drawing/2014/main" id="{DF1F883E-4494-DB5C-9D16-991AC01BD5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4064EF-F4BA-6E65-A557-3E9F40EC30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6A8A52-5605-4853-94AC-A136840A6B54}" type="slidenum">
              <a:rPr lang="en-IN" smtClean="0"/>
              <a:t>‹#›</a:t>
            </a:fld>
            <a:endParaRPr lang="en-IN"/>
          </a:p>
        </p:txBody>
      </p:sp>
    </p:spTree>
    <p:extLst>
      <p:ext uri="{BB962C8B-B14F-4D97-AF65-F5344CB8AC3E}">
        <p14:creationId xmlns:p14="http://schemas.microsoft.com/office/powerpoint/2010/main" val="57890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25.jpg"/><Relationship Id="rId4" Type="http://schemas.openxmlformats.org/officeDocument/2006/relationships/image" Target="../media/image24.jpg"/></Relationships>
</file>

<file path=ppt/slides/_rels/slide2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jp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A3C149-4F07-CC71-6F06-1F288127987D}"/>
              </a:ext>
            </a:extLst>
          </p:cNvPr>
          <p:cNvSpPr txBox="1"/>
          <p:nvPr/>
        </p:nvSpPr>
        <p:spPr>
          <a:xfrm>
            <a:off x="520860" y="540773"/>
            <a:ext cx="11181143" cy="707886"/>
          </a:xfrm>
          <a:prstGeom prst="rect">
            <a:avLst/>
          </a:prstGeom>
          <a:noFill/>
        </p:spPr>
        <p:txBody>
          <a:bodyPr wrap="square">
            <a:spAutoFit/>
          </a:bodyPr>
          <a:lstStyle/>
          <a:p>
            <a:pPr algn="ctr"/>
            <a:r>
              <a:rPr lang="en-IN" sz="4000" b="1" dirty="0">
                <a:solidFill>
                  <a:srgbClr val="663300"/>
                </a:solidFill>
                <a:latin typeface="Times New Roman" panose="02020603050405020304" pitchFamily="18" charset="0"/>
                <a:cs typeface="Times New Roman" panose="02020603050405020304" pitchFamily="18" charset="0"/>
              </a:rPr>
              <a:t>FINAL YEAR MAJOR PROJECT   </a:t>
            </a:r>
            <a:endParaRPr lang="en-IN" sz="4000" dirty="0">
              <a:solidFill>
                <a:srgbClr val="663300"/>
              </a:solidFill>
            </a:endParaRPr>
          </a:p>
        </p:txBody>
      </p:sp>
      <p:sp>
        <p:nvSpPr>
          <p:cNvPr id="8" name="TextBox 7">
            <a:extLst>
              <a:ext uri="{FF2B5EF4-FFF2-40B4-BE49-F238E27FC236}">
                <a16:creationId xmlns:a16="http://schemas.microsoft.com/office/drawing/2014/main" id="{62505DD1-4877-4FB6-34C5-DD6B8039705B}"/>
              </a:ext>
            </a:extLst>
          </p:cNvPr>
          <p:cNvSpPr txBox="1"/>
          <p:nvPr/>
        </p:nvSpPr>
        <p:spPr>
          <a:xfrm>
            <a:off x="520861" y="2910347"/>
            <a:ext cx="11181143" cy="3908762"/>
          </a:xfrm>
          <a:prstGeom prst="rect">
            <a:avLst/>
          </a:prstGeom>
          <a:noFill/>
        </p:spPr>
        <p:txBody>
          <a:bodyPr wrap="square">
            <a:spAutoFit/>
          </a:bodyPr>
          <a:lstStyle/>
          <a:p>
            <a:pPr algn="ctr"/>
            <a:r>
              <a:rPr lang="en-IN" sz="2800" b="1" dirty="0">
                <a:solidFill>
                  <a:srgbClr val="663300"/>
                </a:solidFill>
                <a:latin typeface="Times New Roman" panose="02020603050405020304" pitchFamily="18" charset="0"/>
                <a:cs typeface="Times New Roman" panose="02020603050405020304" pitchFamily="18" charset="0"/>
              </a:rPr>
              <a:t>Department of CSE(Data Science)</a:t>
            </a:r>
          </a:p>
          <a:p>
            <a:pPr algn="ctr"/>
            <a:r>
              <a:rPr lang="en-IN" sz="2800" dirty="0">
                <a:solidFill>
                  <a:srgbClr val="663300"/>
                </a:solidFill>
                <a:latin typeface="Times New Roman" panose="02020603050405020304" pitchFamily="18" charset="0"/>
                <a:cs typeface="Times New Roman" panose="02020603050405020304" pitchFamily="18" charset="0"/>
              </a:rPr>
              <a:t>Swami Vivekananda Institute of Technology</a:t>
            </a:r>
          </a:p>
          <a:p>
            <a:pPr algn="ctr"/>
            <a:r>
              <a:rPr lang="en-IN" sz="2800" dirty="0">
                <a:solidFill>
                  <a:srgbClr val="663300"/>
                </a:solidFill>
                <a:latin typeface="Times New Roman" panose="02020603050405020304" pitchFamily="18" charset="0"/>
                <a:cs typeface="Times New Roman" panose="02020603050405020304" pitchFamily="18" charset="0"/>
              </a:rPr>
              <a:t>(Approved by AICTE, New Delhi &amp; Affiliated to JNTUH, Hyderabad)</a:t>
            </a:r>
          </a:p>
          <a:p>
            <a:pPr algn="ctr"/>
            <a:r>
              <a:rPr lang="en-IN" sz="2800" dirty="0">
                <a:solidFill>
                  <a:srgbClr val="663300"/>
                </a:solidFill>
                <a:latin typeface="Times New Roman" panose="02020603050405020304" pitchFamily="18" charset="0"/>
                <a:cs typeface="Times New Roman" panose="02020603050405020304" pitchFamily="18" charset="0"/>
              </a:rPr>
              <a:t>Mahbub College Campus, </a:t>
            </a:r>
            <a:r>
              <a:rPr lang="en-IN" sz="2800" dirty="0" err="1">
                <a:solidFill>
                  <a:srgbClr val="663300"/>
                </a:solidFill>
                <a:latin typeface="Times New Roman" panose="02020603050405020304" pitchFamily="18" charset="0"/>
                <a:cs typeface="Times New Roman" panose="02020603050405020304" pitchFamily="18" charset="0"/>
              </a:rPr>
              <a:t>Patny</a:t>
            </a:r>
            <a:r>
              <a:rPr lang="en-IN" sz="2800" dirty="0">
                <a:solidFill>
                  <a:srgbClr val="663300"/>
                </a:solidFill>
                <a:latin typeface="Times New Roman" panose="02020603050405020304" pitchFamily="18" charset="0"/>
                <a:cs typeface="Times New Roman" panose="02020603050405020304" pitchFamily="18" charset="0"/>
              </a:rPr>
              <a:t> centre, S.D Road,</a:t>
            </a:r>
          </a:p>
          <a:p>
            <a:pPr algn="just"/>
            <a:r>
              <a:rPr lang="en-IN" sz="2800" dirty="0">
                <a:solidFill>
                  <a:srgbClr val="663300"/>
                </a:solidFill>
                <a:latin typeface="Times New Roman" panose="02020603050405020304" pitchFamily="18" charset="0"/>
                <a:cs typeface="Times New Roman" panose="02020603050405020304" pitchFamily="18" charset="0"/>
              </a:rPr>
              <a:t>                                         </a:t>
            </a:r>
            <a:r>
              <a:rPr lang="en-IN" sz="2800" dirty="0" err="1">
                <a:solidFill>
                  <a:srgbClr val="663300"/>
                </a:solidFill>
                <a:latin typeface="Times New Roman" panose="02020603050405020304" pitchFamily="18" charset="0"/>
                <a:cs typeface="Times New Roman" panose="02020603050405020304" pitchFamily="18" charset="0"/>
              </a:rPr>
              <a:t>Secunderabad</a:t>
            </a:r>
            <a:r>
              <a:rPr lang="en-IN" sz="2800" dirty="0">
                <a:solidFill>
                  <a:srgbClr val="663300"/>
                </a:solidFill>
                <a:latin typeface="Times New Roman" panose="02020603050405020304" pitchFamily="18" charset="0"/>
                <a:cs typeface="Times New Roman" panose="02020603050405020304" pitchFamily="18" charset="0"/>
              </a:rPr>
              <a:t> -500003,T.S    </a:t>
            </a:r>
          </a:p>
          <a:p>
            <a:pPr algn="just"/>
            <a:r>
              <a:rPr lang="en-IN" sz="2800" b="1" i="1" dirty="0">
                <a:solidFill>
                  <a:srgbClr val="663300"/>
                </a:solidFill>
                <a:latin typeface="Times New Roman" panose="02020603050405020304" pitchFamily="18" charset="0"/>
                <a:cs typeface="Times New Roman" panose="02020603050405020304" pitchFamily="18" charset="0"/>
              </a:rPr>
              <a:t>                                                     </a:t>
            </a:r>
            <a:r>
              <a:rPr lang="en-IN" sz="2800" b="1" dirty="0">
                <a:solidFill>
                  <a:srgbClr val="663300"/>
                </a:solidFill>
                <a:latin typeface="Times New Roman" panose="02020603050405020304" pitchFamily="18" charset="0"/>
                <a:cs typeface="Times New Roman" panose="02020603050405020304" pitchFamily="18" charset="0"/>
              </a:rPr>
              <a:t>2021-2025</a:t>
            </a:r>
          </a:p>
          <a:p>
            <a:pPr algn="ctr"/>
            <a:endParaRPr lang="en-IN" sz="1600" dirty="0">
              <a:solidFill>
                <a:srgbClr val="663300"/>
              </a:solidFill>
              <a:latin typeface="Times New Roman" panose="02020603050405020304" pitchFamily="18" charset="0"/>
              <a:cs typeface="Times New Roman" panose="02020603050405020304" pitchFamily="18" charset="0"/>
            </a:endParaRPr>
          </a:p>
          <a:p>
            <a:pPr algn="ctr"/>
            <a:endParaRPr lang="en-IN" sz="1600" dirty="0">
              <a:solidFill>
                <a:srgbClr val="663300"/>
              </a:solidFill>
              <a:latin typeface="Times New Roman" panose="02020603050405020304" pitchFamily="18" charset="0"/>
              <a:cs typeface="Times New Roman" panose="02020603050405020304" pitchFamily="18" charset="0"/>
            </a:endParaRPr>
          </a:p>
          <a:p>
            <a:pPr algn="ctr"/>
            <a:endParaRPr lang="en-IN" sz="1600" dirty="0">
              <a:solidFill>
                <a:srgbClr val="663300"/>
              </a:solidFill>
              <a:latin typeface="Times New Roman" panose="02020603050405020304" pitchFamily="18" charset="0"/>
              <a:cs typeface="Times New Roman" panose="02020603050405020304" pitchFamily="18" charset="0"/>
            </a:endParaRPr>
          </a:p>
          <a:p>
            <a:pPr algn="ctr"/>
            <a:endParaRPr lang="en-IN" sz="1600" dirty="0">
              <a:solidFill>
                <a:srgbClr val="663300"/>
              </a:solidFill>
              <a:latin typeface="Times New Roman" panose="02020603050405020304" pitchFamily="18" charset="0"/>
              <a:cs typeface="Times New Roman" panose="02020603050405020304" pitchFamily="18" charset="0"/>
            </a:endParaRPr>
          </a:p>
          <a:p>
            <a:pPr algn="ctr"/>
            <a:endParaRPr lang="en-IN" sz="1600" dirty="0">
              <a:solidFill>
                <a:srgbClr val="6633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A75488B-3DDB-428F-8DB4-AE591037693D}"/>
              </a:ext>
            </a:extLst>
          </p:cNvPr>
          <p:cNvPicPr>
            <a:picLocks noChangeAspect="1"/>
          </p:cNvPicPr>
          <p:nvPr/>
        </p:nvPicPr>
        <p:blipFill>
          <a:blip r:embed="rId2"/>
          <a:stretch>
            <a:fillRect/>
          </a:stretch>
        </p:blipFill>
        <p:spPr>
          <a:xfrm>
            <a:off x="2123260" y="1629350"/>
            <a:ext cx="7945480" cy="1037509"/>
          </a:xfrm>
          <a:prstGeom prst="rect">
            <a:avLst/>
          </a:prstGeom>
        </p:spPr>
      </p:pic>
    </p:spTree>
    <p:extLst>
      <p:ext uri="{BB962C8B-B14F-4D97-AF65-F5344CB8AC3E}">
        <p14:creationId xmlns:p14="http://schemas.microsoft.com/office/powerpoint/2010/main" val="4202107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F2C452-C51A-CD63-C680-EA4417EA491F}"/>
              </a:ext>
            </a:extLst>
          </p:cNvPr>
          <p:cNvSpPr txBox="1"/>
          <p:nvPr/>
        </p:nvSpPr>
        <p:spPr>
          <a:xfrm>
            <a:off x="403124" y="558738"/>
            <a:ext cx="11159612" cy="1200329"/>
          </a:xfrm>
          <a:prstGeom prst="rect">
            <a:avLst/>
          </a:prstGeom>
          <a:noFill/>
        </p:spPr>
        <p:txBody>
          <a:bodyPr wrap="square">
            <a:spAutoFit/>
          </a:bodyPr>
          <a:lstStyle/>
          <a:p>
            <a:pPr algn="ctr"/>
            <a:r>
              <a:rPr lang="en-US" sz="3600" dirty="0">
                <a:solidFill>
                  <a:srgbClr val="663300"/>
                </a:solidFill>
                <a:latin typeface="Times New Roman" panose="02020603050405020304" pitchFamily="18" charset="0"/>
                <a:cs typeface="Times New Roman" panose="02020603050405020304" pitchFamily="18" charset="0"/>
              </a:rPr>
              <a:t>ARTIFICIAL INTELLIGENCE CRIME ON OVERVIEW OF MALICIOUS USE AND ABUSE OF AI</a:t>
            </a:r>
            <a:endParaRPr lang="en-IN" sz="3600" dirty="0">
              <a:solidFill>
                <a:srgbClr val="663300"/>
              </a:solidFill>
            </a:endParaRPr>
          </a:p>
        </p:txBody>
      </p:sp>
      <p:sp>
        <p:nvSpPr>
          <p:cNvPr id="7" name="TextBox 6">
            <a:extLst>
              <a:ext uri="{FF2B5EF4-FFF2-40B4-BE49-F238E27FC236}">
                <a16:creationId xmlns:a16="http://schemas.microsoft.com/office/drawing/2014/main" id="{6BC68E24-C53F-C356-DFB3-942571277959}"/>
              </a:ext>
            </a:extLst>
          </p:cNvPr>
          <p:cNvSpPr txBox="1"/>
          <p:nvPr/>
        </p:nvSpPr>
        <p:spPr>
          <a:xfrm>
            <a:off x="776748" y="2114497"/>
            <a:ext cx="5034117" cy="2246769"/>
          </a:xfrm>
          <a:prstGeom prst="rect">
            <a:avLst/>
          </a:prstGeom>
          <a:noFill/>
        </p:spPr>
        <p:txBody>
          <a:bodyPr wrap="square">
            <a:spAutoFit/>
          </a:bodyPr>
          <a:lstStyle/>
          <a:p>
            <a:pPr marL="0" indent="0">
              <a:buNone/>
            </a:pPr>
            <a:r>
              <a:rPr lang="en-IN" sz="2800" b="1" dirty="0">
                <a:solidFill>
                  <a:srgbClr val="663300"/>
                </a:solidFill>
                <a:latin typeface="Times New Roman" panose="02020603050405020304" pitchFamily="18" charset="0"/>
                <a:cs typeface="Times New Roman" panose="02020603050405020304" pitchFamily="18" charset="0"/>
              </a:rPr>
              <a:t>Meet The Group:</a:t>
            </a:r>
          </a:p>
          <a:p>
            <a:pPr marL="0" indent="0">
              <a:buNone/>
            </a:pPr>
            <a:r>
              <a:rPr lang="en-IN" sz="2800" dirty="0">
                <a:solidFill>
                  <a:srgbClr val="663300"/>
                </a:solidFill>
                <a:latin typeface="Times New Roman" panose="02020603050405020304" pitchFamily="18" charset="0"/>
                <a:cs typeface="Times New Roman" panose="02020603050405020304" pitchFamily="18" charset="0"/>
              </a:rPr>
              <a:t> E. Shravika           21P71A6784</a:t>
            </a:r>
          </a:p>
          <a:p>
            <a:pPr marL="0" indent="0">
              <a:buNone/>
            </a:pPr>
            <a:r>
              <a:rPr lang="en-IN" sz="2800" dirty="0">
                <a:solidFill>
                  <a:srgbClr val="663300"/>
                </a:solidFill>
                <a:latin typeface="Times New Roman" panose="02020603050405020304" pitchFamily="18" charset="0"/>
                <a:cs typeface="Times New Roman" panose="02020603050405020304" pitchFamily="18" charset="0"/>
              </a:rPr>
              <a:t> A. Swetha             21P71A6799</a:t>
            </a:r>
          </a:p>
          <a:p>
            <a:pPr marL="0" indent="0">
              <a:buNone/>
            </a:pPr>
            <a:r>
              <a:rPr lang="en-IN" sz="2800" dirty="0">
                <a:solidFill>
                  <a:srgbClr val="663300"/>
                </a:solidFill>
                <a:latin typeface="Times New Roman" panose="02020603050405020304" pitchFamily="18" charset="0"/>
                <a:cs typeface="Times New Roman" panose="02020603050405020304" pitchFamily="18" charset="0"/>
              </a:rPr>
              <a:t> K. Vikas Chary     21P71A67B1</a:t>
            </a:r>
          </a:p>
          <a:p>
            <a:pPr marL="0" indent="0">
              <a:buNone/>
            </a:pPr>
            <a:r>
              <a:rPr lang="en-IN" sz="2800" dirty="0">
                <a:solidFill>
                  <a:srgbClr val="663300"/>
                </a:solidFill>
                <a:latin typeface="Times New Roman" panose="02020603050405020304" pitchFamily="18" charset="0"/>
                <a:cs typeface="Times New Roman" panose="02020603050405020304" pitchFamily="18" charset="0"/>
              </a:rPr>
              <a:t> M. Venkatesh        22P75A6710</a:t>
            </a:r>
          </a:p>
        </p:txBody>
      </p:sp>
      <p:sp>
        <p:nvSpPr>
          <p:cNvPr id="2" name="AutoShape 2" descr="The Use of AI in Detecting and Preventing Cybercrime">
            <a:extLst>
              <a:ext uri="{FF2B5EF4-FFF2-40B4-BE49-F238E27FC236}">
                <a16:creationId xmlns:a16="http://schemas.microsoft.com/office/drawing/2014/main" id="{18E3C4E7-A36D-2338-BF8C-9757142BE97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47C62D79-E921-7824-270C-27FD4D0F9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114497"/>
            <a:ext cx="5132438" cy="3689091"/>
          </a:xfrm>
          <a:prstGeom prst="rect">
            <a:avLst/>
          </a:prstGeom>
        </p:spPr>
      </p:pic>
      <p:sp>
        <p:nvSpPr>
          <p:cNvPr id="6" name="TextBox 5">
            <a:extLst>
              <a:ext uri="{FF2B5EF4-FFF2-40B4-BE49-F238E27FC236}">
                <a16:creationId xmlns:a16="http://schemas.microsoft.com/office/drawing/2014/main" id="{97275461-D435-E74F-563C-A6CAA12F5203}"/>
              </a:ext>
            </a:extLst>
          </p:cNvPr>
          <p:cNvSpPr txBox="1"/>
          <p:nvPr/>
        </p:nvSpPr>
        <p:spPr>
          <a:xfrm>
            <a:off x="1317523" y="4716696"/>
            <a:ext cx="3962400" cy="830997"/>
          </a:xfrm>
          <a:prstGeom prst="rect">
            <a:avLst/>
          </a:prstGeom>
          <a:noFill/>
        </p:spPr>
        <p:txBody>
          <a:bodyPr wrap="square">
            <a:spAutoFit/>
          </a:bodyPr>
          <a:lstStyle/>
          <a:p>
            <a:pPr marL="0" indent="0" algn="ctr">
              <a:buNone/>
            </a:pPr>
            <a:r>
              <a:rPr lang="en-IN" sz="2400" b="1" dirty="0">
                <a:solidFill>
                  <a:srgbClr val="663300"/>
                </a:solidFill>
                <a:latin typeface="Times New Roman" panose="02020603050405020304" pitchFamily="18" charset="0"/>
                <a:cs typeface="Times New Roman" panose="02020603050405020304" pitchFamily="18" charset="0"/>
              </a:rPr>
              <a:t>Internal Guide:                                             </a:t>
            </a:r>
            <a:r>
              <a:rPr lang="en-IN" sz="2400" dirty="0">
                <a:solidFill>
                  <a:srgbClr val="663300"/>
                </a:solidFill>
                <a:latin typeface="Times New Roman" panose="02020603050405020304" pitchFamily="18" charset="0"/>
                <a:cs typeface="Times New Roman" panose="02020603050405020304" pitchFamily="18" charset="0"/>
              </a:rPr>
              <a:t>Mrs. Nazia Shabana</a:t>
            </a:r>
          </a:p>
        </p:txBody>
      </p:sp>
    </p:spTree>
    <p:extLst>
      <p:ext uri="{BB962C8B-B14F-4D97-AF65-F5344CB8AC3E}">
        <p14:creationId xmlns:p14="http://schemas.microsoft.com/office/powerpoint/2010/main" val="1998155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0344C1-D43C-9F76-3700-5EEB81179B71}"/>
              </a:ext>
            </a:extLst>
          </p:cNvPr>
          <p:cNvSpPr txBox="1"/>
          <p:nvPr/>
        </p:nvSpPr>
        <p:spPr>
          <a:xfrm>
            <a:off x="2824223" y="520862"/>
            <a:ext cx="6316883"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ABSTRACT</a:t>
            </a:r>
            <a:endParaRPr lang="en-IN" sz="4800" dirty="0">
              <a:solidFill>
                <a:srgbClr val="6633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C058842-2AE6-701D-CB35-7C7040B2FBB7}"/>
              </a:ext>
            </a:extLst>
          </p:cNvPr>
          <p:cNvSpPr txBox="1"/>
          <p:nvPr/>
        </p:nvSpPr>
        <p:spPr>
          <a:xfrm>
            <a:off x="914400" y="1539433"/>
            <a:ext cx="10417215" cy="4154984"/>
          </a:xfrm>
          <a:prstGeom prst="rect">
            <a:avLst/>
          </a:prstGeom>
          <a:noFill/>
        </p:spPr>
        <p:txBody>
          <a:bodyPr wrap="square">
            <a:spAutoFit/>
          </a:bodyPr>
          <a:lstStyle/>
          <a:p>
            <a:r>
              <a:rPr lang="en-US" sz="2400" dirty="0">
                <a:solidFill>
                  <a:srgbClr val="663300"/>
                </a:solidFill>
                <a:latin typeface="Times New Roman" panose="02020603050405020304" pitchFamily="18" charset="0"/>
                <a:cs typeface="Times New Roman" panose="02020603050405020304" pitchFamily="18" charset="0"/>
              </a:rPr>
              <a:t>Artificial Intelligence (AI) is advancing rapidly, transforming industries but also giving rise to new forms of crime and abuse. AI models are vulnerable to malicious activities, categorized into two main types: malicious abuse and malicious use. Malicious abuse includes integrity attacks, unintended outcomes, algorithmic trading misuse, and membership inference attacks, while malicious use involves social engineering, misinformation, hacking, and autonomous weapons. Identifying these threats is crucial for developing governance strategies to minimize harm. Collaboration among governments, industries, and civil society is essential to strengthen preparedness. Machine learning, a core component of AI, drives data-driven decisions, offering solutions where traditional methods fail, and plays a pivotal role across diverse applications.</a:t>
            </a:r>
            <a:endParaRPr lang="en-IN" sz="2400" dirty="0">
              <a:solidFill>
                <a:srgbClr val="66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5677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CB5C8F-75F5-6478-B900-075DDCA4AE5E}"/>
              </a:ext>
            </a:extLst>
          </p:cNvPr>
          <p:cNvSpPr txBox="1"/>
          <p:nvPr/>
        </p:nvSpPr>
        <p:spPr>
          <a:xfrm>
            <a:off x="544011" y="694481"/>
            <a:ext cx="10776030"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INTRODUCTION</a:t>
            </a:r>
            <a:endParaRPr lang="en-IN" sz="4800" dirty="0">
              <a:solidFill>
                <a:srgbClr val="6633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8DEAFE4-5350-F72C-AA2B-D27C064964D6}"/>
              </a:ext>
            </a:extLst>
          </p:cNvPr>
          <p:cNvSpPr txBox="1"/>
          <p:nvPr/>
        </p:nvSpPr>
        <p:spPr>
          <a:xfrm>
            <a:off x="1388961" y="2095018"/>
            <a:ext cx="9606987" cy="3046988"/>
          </a:xfrm>
          <a:prstGeom prst="rect">
            <a:avLst/>
          </a:prstGeom>
          <a:noFill/>
        </p:spPr>
        <p:txBody>
          <a:bodyPr wrap="square">
            <a:spAutoFit/>
          </a:bodyPr>
          <a:lstStyle/>
          <a:p>
            <a:r>
              <a:rPr lang="en-US" sz="2400" dirty="0">
                <a:solidFill>
                  <a:srgbClr val="663300"/>
                </a:solidFill>
                <a:latin typeface="Times New Roman" panose="02020603050405020304" pitchFamily="18" charset="0"/>
                <a:cs typeface="Times New Roman" panose="02020603050405020304" pitchFamily="18" charset="0"/>
              </a:rPr>
              <a:t>Artificial Intelligence (AI) is transforming industries and daily life but also brings serious risks. The malicious use of AI is a growing threat, enabling deception, harm, and manipulation. Criminals exploit AI for cyberattacks, deepfakes, and autonomous weapons. These threats challenge traditional security and raise ethical and legal issues. This project explores how AI is misused in criminal activities. It highlights AI’s dual-use nature—capable of both benefit and harm. Proactive measures are needed to prevent malicious applications. Building resilient AI systems is essential for a safer future.</a:t>
            </a:r>
            <a:endParaRPr lang="en-IN" sz="2400" dirty="0">
              <a:solidFill>
                <a:srgbClr val="66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669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7E836D7-7552-C2E2-5443-B15EC41C6948}"/>
              </a:ext>
            </a:extLst>
          </p:cNvPr>
          <p:cNvSpPr txBox="1"/>
          <p:nvPr/>
        </p:nvSpPr>
        <p:spPr>
          <a:xfrm>
            <a:off x="2627453" y="544010"/>
            <a:ext cx="6513653"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EXISTING SYSTEM</a:t>
            </a:r>
            <a:endParaRPr lang="en-IN" sz="4800" dirty="0">
              <a:solidFill>
                <a:srgbClr val="6633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0D5EB56-361F-E8BC-36C7-66CC22199210}"/>
              </a:ext>
            </a:extLst>
          </p:cNvPr>
          <p:cNvPicPr>
            <a:picLocks noChangeAspect="1"/>
          </p:cNvPicPr>
          <p:nvPr/>
        </p:nvPicPr>
        <p:blipFill>
          <a:blip r:embed="rId2"/>
          <a:srcRect l="1" r="349" b="27285"/>
          <a:stretch/>
        </p:blipFill>
        <p:spPr>
          <a:xfrm>
            <a:off x="1210924" y="1727631"/>
            <a:ext cx="9770151" cy="4122562"/>
          </a:xfrm>
          <a:prstGeom prst="rect">
            <a:avLst/>
          </a:prstGeom>
        </p:spPr>
      </p:pic>
    </p:spTree>
    <p:extLst>
      <p:ext uri="{BB962C8B-B14F-4D97-AF65-F5344CB8AC3E}">
        <p14:creationId xmlns:p14="http://schemas.microsoft.com/office/powerpoint/2010/main" val="3177064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7C95F5-EC6C-15B9-75C3-7C7682AF2817}"/>
              </a:ext>
            </a:extLst>
          </p:cNvPr>
          <p:cNvSpPr txBox="1"/>
          <p:nvPr/>
        </p:nvSpPr>
        <p:spPr>
          <a:xfrm>
            <a:off x="2731625" y="462987"/>
            <a:ext cx="6409481"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DISADVANTAGES</a:t>
            </a:r>
            <a:endParaRPr lang="en-IN" sz="4800" dirty="0">
              <a:solidFill>
                <a:srgbClr val="6633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3C4A803-F392-18E3-C2B4-C93F7A124F1E}"/>
              </a:ext>
            </a:extLst>
          </p:cNvPr>
          <p:cNvSpPr txBox="1"/>
          <p:nvPr/>
        </p:nvSpPr>
        <p:spPr>
          <a:xfrm>
            <a:off x="1504709" y="1655180"/>
            <a:ext cx="9387067" cy="2795958"/>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en-US" sz="2400" dirty="0">
                <a:solidFill>
                  <a:srgbClr val="663300"/>
                </a:solidFill>
                <a:effectLst/>
                <a:latin typeface="Times New Roman" panose="02020603050405020304" pitchFamily="18" charset="0"/>
                <a:ea typeface="Calibri" panose="020F0502020204030204" pitchFamily="34" charset="0"/>
              </a:rPr>
              <a:t>An existing methodology not proposed the term ``AI-Crime'' to describe the situation in which AI technologies are re-oriented to facilitate criminal activity.</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2400" dirty="0">
                <a:solidFill>
                  <a:srgbClr val="663300"/>
                </a:solidFill>
                <a:effectLst/>
                <a:latin typeface="Times New Roman" panose="02020603050405020304" pitchFamily="18" charset="0"/>
                <a:ea typeface="Calibri" panose="020F0502020204030204" pitchFamily="34" charset="0"/>
              </a:rPr>
              <a:t>An existing system doesn't implement for MALICIOUS ABUSE OF AI and VULNERABILITIES OF AI MODELS.</a:t>
            </a:r>
            <a:endParaRPr lang="en-IN" sz="2400" dirty="0">
              <a:solidFill>
                <a:srgbClr val="6633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41609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6BA22F-4D89-8AF8-3EA7-574B94114A60}"/>
              </a:ext>
            </a:extLst>
          </p:cNvPr>
          <p:cNvSpPr txBox="1"/>
          <p:nvPr/>
        </p:nvSpPr>
        <p:spPr>
          <a:xfrm>
            <a:off x="3113590" y="497711"/>
            <a:ext cx="6027516"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PROPOSED SYSTEM</a:t>
            </a:r>
            <a:endParaRPr lang="en-IN" sz="4800" dirty="0">
              <a:solidFill>
                <a:srgbClr val="66330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8F74D6A-A7A6-237D-D4AC-2F46CC4616DA}"/>
              </a:ext>
            </a:extLst>
          </p:cNvPr>
          <p:cNvPicPr>
            <a:picLocks noChangeAspect="1"/>
          </p:cNvPicPr>
          <p:nvPr/>
        </p:nvPicPr>
        <p:blipFill>
          <a:blip r:embed="rId2"/>
          <a:srcRect b="23447"/>
          <a:stretch/>
        </p:blipFill>
        <p:spPr>
          <a:xfrm>
            <a:off x="2052012" y="1417200"/>
            <a:ext cx="8087975" cy="4805438"/>
          </a:xfrm>
          <a:prstGeom prst="rect">
            <a:avLst/>
          </a:prstGeom>
        </p:spPr>
      </p:pic>
    </p:spTree>
    <p:extLst>
      <p:ext uri="{BB962C8B-B14F-4D97-AF65-F5344CB8AC3E}">
        <p14:creationId xmlns:p14="http://schemas.microsoft.com/office/powerpoint/2010/main" val="556584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43DBD4-99D6-3A66-0BCD-EF7EF4303328}"/>
              </a:ext>
            </a:extLst>
          </p:cNvPr>
          <p:cNvSpPr txBox="1"/>
          <p:nvPr/>
        </p:nvSpPr>
        <p:spPr>
          <a:xfrm>
            <a:off x="3020992" y="451413"/>
            <a:ext cx="6120114"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ADVANTAGES</a:t>
            </a:r>
          </a:p>
        </p:txBody>
      </p:sp>
      <p:sp>
        <p:nvSpPr>
          <p:cNvPr id="5" name="TextBox 4">
            <a:extLst>
              <a:ext uri="{FF2B5EF4-FFF2-40B4-BE49-F238E27FC236}">
                <a16:creationId xmlns:a16="http://schemas.microsoft.com/office/drawing/2014/main" id="{A2F9C714-F98C-3D63-314C-8E2E115A82EA}"/>
              </a:ext>
            </a:extLst>
          </p:cNvPr>
          <p:cNvSpPr txBox="1"/>
          <p:nvPr/>
        </p:nvSpPr>
        <p:spPr>
          <a:xfrm>
            <a:off x="1551007" y="1282410"/>
            <a:ext cx="9583839" cy="4457952"/>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en-US" sz="2400" dirty="0">
                <a:solidFill>
                  <a:srgbClr val="663300"/>
                </a:solidFill>
                <a:effectLst/>
                <a:latin typeface="Times New Roman" panose="02020603050405020304" pitchFamily="18" charset="0"/>
                <a:ea typeface="Times New Roman" panose="02020603050405020304" pitchFamily="18" charset="0"/>
              </a:rPr>
              <a:t>The system aims to propose a typology of the malicious use and abuse of AI based on empirical evidence and contemporary discourse, analyzing how AI systems are used to compromise confidentiality, integrity, and data availability.</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2400" dirty="0">
                <a:solidFill>
                  <a:srgbClr val="663300"/>
                </a:solidFill>
                <a:effectLst/>
                <a:latin typeface="Times New Roman" panose="02020603050405020304" pitchFamily="18" charset="0"/>
                <a:ea typeface="Times New Roman" panose="02020603050405020304" pitchFamily="18" charset="0"/>
              </a:rPr>
              <a:t>Objectives are limited to identifying essential elements of the malicious use and abuse of AI, and to collect evidence of their use in practice. The compiled data enable further analysis of the possible ways in which AI systems can be exploited for criminal activities.</a:t>
            </a:r>
            <a:endParaRPr lang="en-IN" sz="2400" dirty="0">
              <a:solidFill>
                <a:srgbClr val="6633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8987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DD0478-5461-8C7C-97CD-401FB86825B9}"/>
              </a:ext>
            </a:extLst>
          </p:cNvPr>
          <p:cNvSpPr txBox="1"/>
          <p:nvPr/>
        </p:nvSpPr>
        <p:spPr>
          <a:xfrm>
            <a:off x="3055716" y="416690"/>
            <a:ext cx="6085390"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TECHNOLOGIES</a:t>
            </a:r>
          </a:p>
        </p:txBody>
      </p:sp>
      <p:pic>
        <p:nvPicPr>
          <p:cNvPr id="5" name="Picture 4">
            <a:extLst>
              <a:ext uri="{FF2B5EF4-FFF2-40B4-BE49-F238E27FC236}">
                <a16:creationId xmlns:a16="http://schemas.microsoft.com/office/drawing/2014/main" id="{0BF65D87-DB68-B1B4-47E9-C7C1E7C4C82F}"/>
              </a:ext>
            </a:extLst>
          </p:cNvPr>
          <p:cNvPicPr>
            <a:picLocks noChangeAspect="1"/>
          </p:cNvPicPr>
          <p:nvPr/>
        </p:nvPicPr>
        <p:blipFill>
          <a:blip r:embed="rId2"/>
          <a:stretch>
            <a:fillRect/>
          </a:stretch>
        </p:blipFill>
        <p:spPr>
          <a:xfrm>
            <a:off x="1875275" y="1405003"/>
            <a:ext cx="8441450" cy="4543513"/>
          </a:xfrm>
          <a:prstGeom prst="rect">
            <a:avLst/>
          </a:prstGeom>
          <a:ln>
            <a:solidFill>
              <a:srgbClr val="663300"/>
            </a:solidFill>
          </a:ln>
        </p:spPr>
      </p:pic>
    </p:spTree>
    <p:extLst>
      <p:ext uri="{BB962C8B-B14F-4D97-AF65-F5344CB8AC3E}">
        <p14:creationId xmlns:p14="http://schemas.microsoft.com/office/powerpoint/2010/main" val="1833711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B738F2-022A-286B-69AE-2555E3710E20}"/>
              </a:ext>
            </a:extLst>
          </p:cNvPr>
          <p:cNvSpPr txBox="1"/>
          <p:nvPr/>
        </p:nvSpPr>
        <p:spPr>
          <a:xfrm>
            <a:off x="1006998" y="439838"/>
            <a:ext cx="10104698"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SOFTWARE REQUIREMENTS</a:t>
            </a:r>
            <a:endParaRPr lang="en-IN" sz="4800" dirty="0">
              <a:solidFill>
                <a:srgbClr val="6633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782FFAD-E9D9-8BCB-C15A-B50C226678A7}"/>
              </a:ext>
            </a:extLst>
          </p:cNvPr>
          <p:cNvSpPr txBox="1"/>
          <p:nvPr/>
        </p:nvSpPr>
        <p:spPr>
          <a:xfrm>
            <a:off x="2187615" y="1749381"/>
            <a:ext cx="7986532" cy="2949525"/>
          </a:xfrm>
          <a:prstGeom prst="rect">
            <a:avLst/>
          </a:prstGeom>
          <a:noFill/>
        </p:spPr>
        <p:txBody>
          <a:bodyPr wrap="square">
            <a:spAutoFit/>
          </a:bodyPr>
          <a:lstStyle/>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effectLst/>
                <a:latin typeface="Times New Roman" panose="02020603050405020304" pitchFamily="18" charset="0"/>
                <a:ea typeface="Times New Roman" panose="02020603050405020304" pitchFamily="18" charset="0"/>
              </a:rPr>
              <a:t>Operating system 	                :   </a:t>
            </a:r>
            <a:r>
              <a:rPr lang="en-US" sz="2400" dirty="0">
                <a:solidFill>
                  <a:srgbClr val="663300"/>
                </a:solidFill>
                <a:effectLst/>
                <a:latin typeface="Times New Roman" panose="02020603050405020304" pitchFamily="18" charset="0"/>
                <a:ea typeface="Times New Roman" panose="02020603050405020304" pitchFamily="18" charset="0"/>
              </a:rPr>
              <a:t>Windows 7 Ultimate.</a:t>
            </a:r>
            <a:endParaRPr lang="en-IN" sz="2400" dirty="0">
              <a:solidFill>
                <a:srgbClr val="663300"/>
              </a:solidFill>
              <a:effectLst/>
              <a:latin typeface="Times New Roman" panose="02020603050405020304" pitchFamily="18" charset="0"/>
              <a:ea typeface="Times New Roman" panose="02020603050405020304" pitchFamily="18" charset="0"/>
            </a:endParaRPr>
          </a:p>
          <a:p>
            <a:pPr marL="285750" lvl="0" indent="-285750" algn="just">
              <a:spcAft>
                <a:spcPts val="1000"/>
              </a:spcAft>
              <a:buFont typeface="Wingdings" panose="05000000000000000000" pitchFamily="2" charset="2"/>
              <a:buChar char="Ø"/>
              <a:tabLst>
                <a:tab pos="457200" algn="l"/>
              </a:tabLst>
            </a:pPr>
            <a:r>
              <a:rPr lang="en-US" sz="2400" b="1" dirty="0">
                <a:solidFill>
                  <a:srgbClr val="663300"/>
                </a:solidFill>
                <a:effectLst/>
                <a:latin typeface="Times New Roman" panose="02020603050405020304" pitchFamily="18" charset="0"/>
                <a:ea typeface="Times New Roman" panose="02020603050405020304" pitchFamily="18" charset="0"/>
              </a:rPr>
              <a:t>Coding Language		    :   </a:t>
            </a:r>
            <a:r>
              <a:rPr lang="en-US" sz="2400" dirty="0">
                <a:solidFill>
                  <a:srgbClr val="663300"/>
                </a:solidFill>
                <a:effectLst/>
                <a:latin typeface="Times New Roman" panose="02020603050405020304" pitchFamily="18" charset="0"/>
                <a:ea typeface="Times New Roman" panose="02020603050405020304" pitchFamily="18" charset="0"/>
              </a:rPr>
              <a:t>Python.</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effectLst/>
                <a:latin typeface="Times New Roman" panose="02020603050405020304" pitchFamily="18" charset="0"/>
                <a:ea typeface="Times New Roman" panose="02020603050405020304" pitchFamily="18" charset="0"/>
              </a:rPr>
              <a:t>Front-End			    :   </a:t>
            </a:r>
            <a:r>
              <a:rPr lang="en-US" sz="2400" dirty="0">
                <a:solidFill>
                  <a:srgbClr val="663300"/>
                </a:solidFill>
                <a:effectLst/>
                <a:latin typeface="Times New Roman" panose="02020603050405020304" pitchFamily="18" charset="0"/>
                <a:ea typeface="Times New Roman" panose="02020603050405020304" pitchFamily="18" charset="0"/>
              </a:rPr>
              <a:t>Python.</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effectLst/>
                <a:latin typeface="Times New Roman" panose="02020603050405020304" pitchFamily="18" charset="0"/>
                <a:ea typeface="Times New Roman" panose="02020603050405020304" pitchFamily="18" charset="0"/>
              </a:rPr>
              <a:t>Back-End			    :   </a:t>
            </a:r>
            <a:r>
              <a:rPr lang="en-US" sz="2400" dirty="0">
                <a:solidFill>
                  <a:srgbClr val="663300"/>
                </a:solidFill>
                <a:effectLst/>
                <a:latin typeface="Times New Roman" panose="02020603050405020304" pitchFamily="18" charset="0"/>
                <a:ea typeface="Times New Roman" panose="02020603050405020304" pitchFamily="18" charset="0"/>
              </a:rPr>
              <a:t>Django-ORM</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effectLst/>
                <a:latin typeface="Times New Roman" panose="02020603050405020304" pitchFamily="18" charset="0"/>
                <a:ea typeface="Times New Roman" panose="02020603050405020304" pitchFamily="18" charset="0"/>
              </a:rPr>
              <a:t>Designing			    :</a:t>
            </a:r>
            <a:r>
              <a:rPr lang="en-US" sz="2400" dirty="0">
                <a:solidFill>
                  <a:srgbClr val="663300"/>
                </a:solidFill>
                <a:effectLst/>
                <a:latin typeface="Times New Roman" panose="02020603050405020304" pitchFamily="18" charset="0"/>
                <a:ea typeface="Times New Roman" panose="02020603050405020304" pitchFamily="18" charset="0"/>
              </a:rPr>
              <a:t>   Html, </a:t>
            </a:r>
            <a:r>
              <a:rPr lang="en-US" sz="2400" dirty="0" err="1">
                <a:solidFill>
                  <a:srgbClr val="663300"/>
                </a:solidFill>
                <a:effectLst/>
                <a:latin typeface="Times New Roman" panose="02020603050405020304" pitchFamily="18" charset="0"/>
                <a:ea typeface="Times New Roman" panose="02020603050405020304" pitchFamily="18" charset="0"/>
              </a:rPr>
              <a:t>css</a:t>
            </a:r>
            <a:r>
              <a:rPr lang="en-US" sz="2400" dirty="0">
                <a:solidFill>
                  <a:srgbClr val="663300"/>
                </a:solidFill>
                <a:effectLst/>
                <a:latin typeface="Times New Roman" panose="02020603050405020304" pitchFamily="18" charset="0"/>
                <a:ea typeface="Times New Roman" panose="02020603050405020304" pitchFamily="18" charset="0"/>
              </a:rPr>
              <a:t>, </a:t>
            </a:r>
            <a:r>
              <a:rPr lang="en-US" sz="2400" dirty="0" err="1">
                <a:solidFill>
                  <a:srgbClr val="663300"/>
                </a:solidFill>
                <a:effectLst/>
                <a:latin typeface="Times New Roman" panose="02020603050405020304" pitchFamily="18" charset="0"/>
                <a:ea typeface="Times New Roman" panose="02020603050405020304" pitchFamily="18" charset="0"/>
              </a:rPr>
              <a:t>javascript</a:t>
            </a:r>
            <a:r>
              <a:rPr lang="en-US" sz="2400" dirty="0">
                <a:solidFill>
                  <a:srgbClr val="663300"/>
                </a:solidFill>
                <a:effectLst/>
                <a:latin typeface="Times New Roman" panose="02020603050405020304" pitchFamily="18" charset="0"/>
                <a:ea typeface="Times New Roman" panose="02020603050405020304" pitchFamily="18" charset="0"/>
              </a:rPr>
              <a:t>.</a:t>
            </a:r>
            <a:endParaRPr lang="en-IN" sz="2400" dirty="0">
              <a:solidFill>
                <a:srgbClr val="663300"/>
              </a:solidFill>
              <a:effectLst/>
              <a:latin typeface="Times New Roman" panose="02020603050405020304" pitchFamily="18" charset="0"/>
              <a:ea typeface="Times New Roman" panose="02020603050405020304" pitchFamily="18" charset="0"/>
            </a:endParaRPr>
          </a:p>
          <a:p>
            <a:pPr marL="285750" indent="-285750" algn="just">
              <a:buFont typeface="Wingdings" panose="05000000000000000000" pitchFamily="2" charset="2"/>
              <a:buChar char="Ø"/>
            </a:pPr>
            <a:r>
              <a:rPr lang="en-US" sz="2400" b="1" dirty="0">
                <a:solidFill>
                  <a:srgbClr val="663300"/>
                </a:solidFill>
                <a:effectLst/>
                <a:latin typeface="Times New Roman" panose="02020603050405020304" pitchFamily="18" charset="0"/>
                <a:ea typeface="Times New Roman" panose="02020603050405020304" pitchFamily="18" charset="0"/>
              </a:rPr>
              <a:t>Data Base			    :   </a:t>
            </a:r>
            <a:r>
              <a:rPr lang="en-US" sz="2400" dirty="0">
                <a:solidFill>
                  <a:srgbClr val="663300"/>
                </a:solidFill>
                <a:effectLst/>
                <a:latin typeface="Times New Roman" panose="02020603050405020304" pitchFamily="18" charset="0"/>
                <a:ea typeface="Times New Roman" panose="02020603050405020304" pitchFamily="18" charset="0"/>
              </a:rPr>
              <a:t>MySQL (WAMP Server).</a:t>
            </a:r>
            <a:endParaRPr lang="en-IN" sz="2400" dirty="0">
              <a:solidFill>
                <a:srgbClr val="663300"/>
              </a:solidFill>
            </a:endParaRPr>
          </a:p>
        </p:txBody>
      </p:sp>
    </p:spTree>
    <p:extLst>
      <p:ext uri="{BB962C8B-B14F-4D97-AF65-F5344CB8AC3E}">
        <p14:creationId xmlns:p14="http://schemas.microsoft.com/office/powerpoint/2010/main" val="2450000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FB9E0B-3B32-0931-00FD-AAA80FA7B3EB}"/>
              </a:ext>
            </a:extLst>
          </p:cNvPr>
          <p:cNvSpPr txBox="1"/>
          <p:nvPr/>
        </p:nvSpPr>
        <p:spPr>
          <a:xfrm>
            <a:off x="1558724" y="451413"/>
            <a:ext cx="9074552"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HARDWARE REQUIREMENTS</a:t>
            </a:r>
            <a:endParaRPr lang="en-IN" sz="4800" dirty="0">
              <a:solidFill>
                <a:srgbClr val="6633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6A168CB-9936-9FF8-BED7-1CAEC7F718F6}"/>
              </a:ext>
            </a:extLst>
          </p:cNvPr>
          <p:cNvSpPr txBox="1"/>
          <p:nvPr/>
        </p:nvSpPr>
        <p:spPr>
          <a:xfrm>
            <a:off x="1875098" y="2060293"/>
            <a:ext cx="8623141" cy="3246081"/>
          </a:xfrm>
          <a:prstGeom prst="rect">
            <a:avLst/>
          </a:prstGeom>
          <a:noFill/>
        </p:spPr>
        <p:txBody>
          <a:bodyPr wrap="square">
            <a:spAutoFit/>
          </a:bodyPr>
          <a:lstStyle/>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latin typeface="Times New Roman" panose="02020603050405020304" pitchFamily="18" charset="0"/>
                <a:ea typeface="Times New Roman" panose="02020603050405020304" pitchFamily="18" charset="0"/>
              </a:rPr>
              <a:t>Processor</a:t>
            </a:r>
            <a:r>
              <a:rPr lang="en-US" sz="2400" b="1" dirty="0">
                <a:solidFill>
                  <a:srgbClr val="663300"/>
                </a:solidFill>
                <a:effectLst/>
                <a:latin typeface="Times New Roman" panose="02020603050405020304" pitchFamily="18" charset="0"/>
                <a:ea typeface="Times New Roman" panose="02020603050405020304" pitchFamily="18" charset="0"/>
              </a:rPr>
              <a:t>           	                :   </a:t>
            </a:r>
            <a:r>
              <a:rPr lang="en-US" sz="2400" dirty="0">
                <a:solidFill>
                  <a:srgbClr val="663300"/>
                </a:solidFill>
                <a:latin typeface="Times New Roman" panose="02020603050405020304" pitchFamily="18" charset="0"/>
                <a:ea typeface="Times New Roman" panose="02020603050405020304" pitchFamily="18" charset="0"/>
              </a:rPr>
              <a:t>Pentium -IV</a:t>
            </a:r>
            <a:endParaRPr lang="en-IN" sz="2400" dirty="0">
              <a:solidFill>
                <a:srgbClr val="663300"/>
              </a:solidFill>
              <a:effectLst/>
              <a:latin typeface="Times New Roman" panose="02020603050405020304" pitchFamily="18" charset="0"/>
              <a:ea typeface="Times New Roman" panose="02020603050405020304" pitchFamily="18" charset="0"/>
            </a:endParaRPr>
          </a:p>
          <a:p>
            <a:pPr marL="285750" lvl="0" indent="-285750" algn="just">
              <a:spcAft>
                <a:spcPts val="1000"/>
              </a:spcAft>
              <a:buFont typeface="Wingdings" panose="05000000000000000000" pitchFamily="2" charset="2"/>
              <a:buChar char="Ø"/>
              <a:tabLst>
                <a:tab pos="457200" algn="l"/>
              </a:tabLst>
            </a:pPr>
            <a:r>
              <a:rPr lang="en-US" sz="2400" b="1" dirty="0">
                <a:solidFill>
                  <a:srgbClr val="663300"/>
                </a:solidFill>
                <a:latin typeface="Times New Roman" panose="02020603050405020304" pitchFamily="18" charset="0"/>
                <a:ea typeface="Times New Roman" panose="02020603050405020304" pitchFamily="18" charset="0"/>
              </a:rPr>
              <a:t>RAM            </a:t>
            </a:r>
            <a:r>
              <a:rPr lang="en-US" sz="2400" b="1" dirty="0">
                <a:solidFill>
                  <a:srgbClr val="663300"/>
                </a:solidFill>
                <a:effectLst/>
                <a:latin typeface="Times New Roman" panose="02020603050405020304" pitchFamily="18" charset="0"/>
                <a:ea typeface="Times New Roman" panose="02020603050405020304" pitchFamily="18" charset="0"/>
              </a:rPr>
              <a:t>		    :   </a:t>
            </a:r>
            <a:r>
              <a:rPr lang="en-US" sz="2400" dirty="0">
                <a:solidFill>
                  <a:srgbClr val="663300"/>
                </a:solidFill>
                <a:latin typeface="Times New Roman" panose="02020603050405020304" pitchFamily="18" charset="0"/>
                <a:ea typeface="Times New Roman" panose="02020603050405020304" pitchFamily="18" charset="0"/>
              </a:rPr>
              <a:t>4 GB (min)</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latin typeface="Times New Roman" panose="02020603050405020304" pitchFamily="18" charset="0"/>
                <a:ea typeface="Times New Roman" panose="02020603050405020304" pitchFamily="18" charset="0"/>
              </a:rPr>
              <a:t>Hard Disk</a:t>
            </a:r>
            <a:r>
              <a:rPr lang="en-US" sz="2400" b="1" dirty="0">
                <a:solidFill>
                  <a:srgbClr val="663300"/>
                </a:solidFill>
                <a:effectLst/>
                <a:latin typeface="Times New Roman" panose="02020603050405020304" pitchFamily="18" charset="0"/>
                <a:ea typeface="Times New Roman" panose="02020603050405020304" pitchFamily="18" charset="0"/>
              </a:rPr>
              <a:t>			    : </a:t>
            </a:r>
            <a:r>
              <a:rPr lang="en-US" sz="2400" dirty="0">
                <a:solidFill>
                  <a:srgbClr val="663300"/>
                </a:solidFill>
                <a:effectLst/>
                <a:latin typeface="Times New Roman" panose="02020603050405020304" pitchFamily="18" charset="0"/>
                <a:ea typeface="Times New Roman" panose="02020603050405020304" pitchFamily="18" charset="0"/>
              </a:rPr>
              <a:t>  </a:t>
            </a:r>
            <a:r>
              <a:rPr lang="en-US" sz="2400" dirty="0">
                <a:solidFill>
                  <a:srgbClr val="663300"/>
                </a:solidFill>
                <a:latin typeface="Times New Roman" panose="02020603050405020304" pitchFamily="18" charset="0"/>
                <a:ea typeface="Times New Roman" panose="02020603050405020304" pitchFamily="18" charset="0"/>
              </a:rPr>
              <a:t>20 GB</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latin typeface="Times New Roman" panose="02020603050405020304" pitchFamily="18" charset="0"/>
                <a:ea typeface="Times New Roman" panose="02020603050405020304" pitchFamily="18" charset="0"/>
              </a:rPr>
              <a:t>Key Board </a:t>
            </a:r>
            <a:r>
              <a:rPr lang="en-US" sz="2400" b="1" dirty="0">
                <a:solidFill>
                  <a:srgbClr val="663300"/>
                </a:solidFill>
                <a:effectLst/>
                <a:latin typeface="Times New Roman" panose="02020603050405020304" pitchFamily="18" charset="0"/>
                <a:ea typeface="Times New Roman" panose="02020603050405020304" pitchFamily="18" charset="0"/>
              </a:rPr>
              <a:t>		    :   </a:t>
            </a:r>
            <a:r>
              <a:rPr lang="en-US" sz="2400" dirty="0">
                <a:solidFill>
                  <a:srgbClr val="663300"/>
                </a:solidFill>
                <a:latin typeface="Times New Roman" panose="02020603050405020304" pitchFamily="18" charset="0"/>
                <a:ea typeface="Times New Roman" panose="02020603050405020304" pitchFamily="18" charset="0"/>
              </a:rPr>
              <a:t>Standard Windows Keyboard</a:t>
            </a:r>
            <a:endParaRPr lang="en-IN" sz="24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latin typeface="Times New Roman" panose="02020603050405020304" pitchFamily="18" charset="0"/>
                <a:ea typeface="Times New Roman" panose="02020603050405020304" pitchFamily="18" charset="0"/>
              </a:rPr>
              <a:t>Mouse          </a:t>
            </a:r>
            <a:r>
              <a:rPr lang="en-US" sz="2400" b="1" dirty="0">
                <a:solidFill>
                  <a:srgbClr val="663300"/>
                </a:solidFill>
                <a:effectLst/>
                <a:latin typeface="Times New Roman" panose="02020603050405020304" pitchFamily="18" charset="0"/>
                <a:ea typeface="Times New Roman" panose="02020603050405020304" pitchFamily="18" charset="0"/>
              </a:rPr>
              <a:t>		    :</a:t>
            </a:r>
            <a:r>
              <a:rPr lang="en-US" sz="2400" dirty="0">
                <a:solidFill>
                  <a:srgbClr val="663300"/>
                </a:solidFill>
                <a:effectLst/>
                <a:latin typeface="Times New Roman" panose="02020603050405020304" pitchFamily="18" charset="0"/>
                <a:ea typeface="Times New Roman" panose="02020603050405020304" pitchFamily="18" charset="0"/>
              </a:rPr>
              <a:t>   Two or Three Button Mouse</a:t>
            </a:r>
          </a:p>
          <a:p>
            <a:pPr marL="342900" lvl="0" indent="-342900" algn="just">
              <a:spcAft>
                <a:spcPts val="1000"/>
              </a:spcAft>
              <a:buFont typeface="Wingdings" panose="05000000000000000000" pitchFamily="2" charset="2"/>
              <a:buChar char="Ø"/>
              <a:tabLst>
                <a:tab pos="457200" algn="l"/>
              </a:tabLst>
            </a:pPr>
            <a:r>
              <a:rPr lang="en-US" sz="2400" b="1" dirty="0">
                <a:solidFill>
                  <a:srgbClr val="663300"/>
                </a:solidFill>
                <a:latin typeface="Times New Roman" panose="02020603050405020304" pitchFamily="18" charset="0"/>
                <a:ea typeface="Times New Roman" panose="02020603050405020304" pitchFamily="18" charset="0"/>
              </a:rPr>
              <a:t>Monitor</a:t>
            </a:r>
            <a:r>
              <a:rPr lang="en-US" sz="2400" b="1" dirty="0">
                <a:solidFill>
                  <a:srgbClr val="663300"/>
                </a:solidFill>
                <a:effectLst/>
                <a:latin typeface="Times New Roman" panose="02020603050405020304" pitchFamily="18" charset="0"/>
                <a:ea typeface="Times New Roman" panose="02020603050405020304" pitchFamily="18" charset="0"/>
              </a:rPr>
              <a:t>			    :   </a:t>
            </a:r>
            <a:r>
              <a:rPr lang="en-US" sz="2400" dirty="0">
                <a:solidFill>
                  <a:srgbClr val="663300"/>
                </a:solidFill>
                <a:latin typeface="Times New Roman" panose="02020603050405020304" pitchFamily="18" charset="0"/>
                <a:ea typeface="Times New Roman" panose="02020603050405020304" pitchFamily="18" charset="0"/>
              </a:rPr>
              <a:t>SVGA</a:t>
            </a:r>
            <a:endParaRPr lang="en-IN" sz="2400" dirty="0">
              <a:solidFill>
                <a:srgbClr val="663300"/>
              </a:solidFill>
            </a:endParaRPr>
          </a:p>
          <a:p>
            <a:pPr marL="342900" indent="-342900" defTabSz="180000">
              <a:lnSpc>
                <a:spcPts val="1000"/>
              </a:lnSpc>
              <a:buFont typeface="Wingdings" panose="05000000000000000000" pitchFamily="2" charset="2"/>
              <a:buChar char="Ø"/>
              <a:tabLst>
                <a:tab pos="1260000" algn="ctr"/>
                <a:tab pos="1620000" algn="ctr"/>
                <a:tab pos="12600000" algn="ctr"/>
              </a:tabLst>
            </a:pPr>
            <a:endParaRPr lang="en-IN" sz="2400" dirty="0">
              <a:solidFill>
                <a:srgbClr val="6633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660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9B827A-B82C-FE54-6D04-E27C83386978}"/>
              </a:ext>
            </a:extLst>
          </p:cNvPr>
          <p:cNvSpPr txBox="1"/>
          <p:nvPr/>
        </p:nvSpPr>
        <p:spPr>
          <a:xfrm>
            <a:off x="2946400" y="765294"/>
            <a:ext cx="6096000"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MODULES</a:t>
            </a:r>
            <a:endParaRPr lang="en-IN" sz="4800" dirty="0">
              <a:solidFill>
                <a:srgbClr val="6633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2EBA1A1-8F3F-ED85-2826-9C333873DAE9}"/>
              </a:ext>
            </a:extLst>
          </p:cNvPr>
          <p:cNvSpPr txBox="1"/>
          <p:nvPr/>
        </p:nvSpPr>
        <p:spPr>
          <a:xfrm>
            <a:off x="1016000" y="1733450"/>
            <a:ext cx="9946409" cy="3349956"/>
          </a:xfrm>
          <a:prstGeom prst="rect">
            <a:avLst/>
          </a:prstGeom>
          <a:noFill/>
        </p:spPr>
        <p:txBody>
          <a:bodyPr wrap="square">
            <a:spAutoFit/>
          </a:bodyPr>
          <a:lstStyle/>
          <a:p>
            <a:pPr marL="342900" lvl="0" indent="-342900" algn="just">
              <a:lnSpc>
                <a:spcPct val="150000"/>
              </a:lnSpc>
              <a:buFont typeface="Wingdings" panose="05000000000000000000" pitchFamily="2" charset="2"/>
              <a:buChar char="q"/>
            </a:pPr>
            <a:r>
              <a:rPr lang="en-US" sz="2400" b="1" dirty="0">
                <a:solidFill>
                  <a:srgbClr val="663300"/>
                </a:solidFill>
                <a:latin typeface="Times New Roman" panose="02020603050405020304" pitchFamily="18" charset="0"/>
                <a:ea typeface="Times New Roman" panose="02020603050405020304" pitchFamily="18" charset="0"/>
              </a:rPr>
              <a:t>TensorFlow: </a:t>
            </a:r>
            <a:r>
              <a:rPr lang="en-US" sz="2400" dirty="0">
                <a:solidFill>
                  <a:srgbClr val="663300"/>
                </a:solidFill>
                <a:latin typeface="Times New Roman" panose="02020603050405020304" pitchFamily="18" charset="0"/>
                <a:ea typeface="Times New Roman" panose="02020603050405020304" pitchFamily="18" charset="0"/>
              </a:rPr>
              <a:t>Open-source library by Google for machine learning and deep learning tasks, especially neural networks.</a:t>
            </a:r>
          </a:p>
          <a:p>
            <a:pPr marL="342900" lvl="0" indent="-342900" algn="just">
              <a:lnSpc>
                <a:spcPct val="150000"/>
              </a:lnSpc>
              <a:buFont typeface="Wingdings" panose="05000000000000000000" pitchFamily="2" charset="2"/>
              <a:buChar char="q"/>
            </a:pPr>
            <a:r>
              <a:rPr lang="en-US" sz="2400" b="1" dirty="0">
                <a:solidFill>
                  <a:srgbClr val="663300"/>
                </a:solidFill>
                <a:latin typeface="Times New Roman" panose="02020603050405020304" pitchFamily="18" charset="0"/>
                <a:ea typeface="Times New Roman" panose="02020603050405020304" pitchFamily="18" charset="0"/>
              </a:rPr>
              <a:t>NumPy: </a:t>
            </a:r>
            <a:r>
              <a:rPr lang="en-US" sz="2400" dirty="0">
                <a:solidFill>
                  <a:srgbClr val="663300"/>
                </a:solidFill>
                <a:latin typeface="Times New Roman" panose="02020603050405020304" pitchFamily="18" charset="0"/>
                <a:ea typeface="Times New Roman" panose="02020603050405020304" pitchFamily="18" charset="0"/>
              </a:rPr>
              <a:t>Core scientific library for Python that supports high-performance multidimensional arrays and mathematical functions.</a:t>
            </a:r>
          </a:p>
          <a:p>
            <a:pPr marL="342900" lvl="0" indent="-342900" algn="just">
              <a:lnSpc>
                <a:spcPct val="150000"/>
              </a:lnSpc>
              <a:buFont typeface="Wingdings" panose="05000000000000000000" pitchFamily="2" charset="2"/>
              <a:buChar char="q"/>
            </a:pPr>
            <a:r>
              <a:rPr lang="en-US" sz="2400" b="1" dirty="0">
                <a:solidFill>
                  <a:srgbClr val="663300"/>
                </a:solidFill>
                <a:latin typeface="Times New Roman" panose="02020603050405020304" pitchFamily="18" charset="0"/>
                <a:ea typeface="Times New Roman" panose="02020603050405020304" pitchFamily="18" charset="0"/>
              </a:rPr>
              <a:t>Pandas: </a:t>
            </a:r>
            <a:r>
              <a:rPr lang="en-US" sz="2400" dirty="0">
                <a:solidFill>
                  <a:srgbClr val="663300"/>
                </a:solidFill>
                <a:latin typeface="Times New Roman" panose="02020603050405020304" pitchFamily="18" charset="0"/>
                <a:ea typeface="Times New Roman" panose="02020603050405020304" pitchFamily="18" charset="0"/>
              </a:rPr>
              <a:t>Library for data manipulation and analysis, offering powerful data structures like </a:t>
            </a:r>
            <a:r>
              <a:rPr lang="en-US" sz="2400" dirty="0" err="1">
                <a:solidFill>
                  <a:srgbClr val="663300"/>
                </a:solidFill>
                <a:latin typeface="Times New Roman" panose="02020603050405020304" pitchFamily="18" charset="0"/>
                <a:ea typeface="Times New Roman" panose="02020603050405020304" pitchFamily="18" charset="0"/>
              </a:rPr>
              <a:t>DataFrames</a:t>
            </a:r>
            <a:r>
              <a:rPr lang="en-US" sz="2400" dirty="0">
                <a:solidFill>
                  <a:srgbClr val="663300"/>
                </a:solidFill>
                <a:latin typeface="Times New Roman" panose="02020603050405020304" pitchFamily="18" charset="0"/>
                <a:ea typeface="Times New Roman" panose="02020603050405020304" pitchFamily="18" charset="0"/>
              </a:rPr>
              <a:t> for handling structured data.</a:t>
            </a:r>
            <a:endParaRPr lang="en-US" sz="2400" dirty="0">
              <a:solidFill>
                <a:srgbClr val="6633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68311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2544E-1F35-C9FC-D2C5-CC9E19470433}"/>
              </a:ext>
            </a:extLst>
          </p:cNvPr>
          <p:cNvSpPr txBox="1"/>
          <p:nvPr/>
        </p:nvSpPr>
        <p:spPr>
          <a:xfrm>
            <a:off x="1852178" y="1038792"/>
            <a:ext cx="9234921" cy="2241960"/>
          </a:xfrm>
          <a:prstGeom prst="rect">
            <a:avLst/>
          </a:prstGeom>
          <a:noFill/>
        </p:spPr>
        <p:txBody>
          <a:bodyPr wrap="square">
            <a:spAutoFit/>
          </a:bodyPr>
          <a:lstStyle/>
          <a:p>
            <a:pPr marL="342900" lvl="0" indent="-342900" algn="just">
              <a:lnSpc>
                <a:spcPct val="150000"/>
              </a:lnSpc>
              <a:buFont typeface="Wingdings" panose="05000000000000000000" pitchFamily="2" charset="2"/>
              <a:buChar char="q"/>
            </a:pPr>
            <a:r>
              <a:rPr lang="en-US" sz="2400" b="1" dirty="0">
                <a:solidFill>
                  <a:srgbClr val="663300"/>
                </a:solidFill>
                <a:latin typeface="Times New Roman" panose="02020603050405020304" pitchFamily="18" charset="0"/>
                <a:ea typeface="Times New Roman" panose="02020603050405020304" pitchFamily="18" charset="0"/>
              </a:rPr>
              <a:t>Matplotlib: </a:t>
            </a:r>
            <a:r>
              <a:rPr lang="en-US" sz="2400" dirty="0">
                <a:solidFill>
                  <a:srgbClr val="663300"/>
                </a:solidFill>
                <a:latin typeface="Times New Roman" panose="02020603050405020304" pitchFamily="18" charset="0"/>
                <a:ea typeface="Times New Roman" panose="02020603050405020304" pitchFamily="18" charset="0"/>
              </a:rPr>
              <a:t>2D plotting library for creating static, animated, and interactive visualizations in Python.</a:t>
            </a:r>
          </a:p>
          <a:p>
            <a:pPr marL="342900" lvl="0" indent="-342900" algn="just">
              <a:lnSpc>
                <a:spcPct val="150000"/>
              </a:lnSpc>
              <a:buFont typeface="Wingdings" panose="05000000000000000000" pitchFamily="2" charset="2"/>
              <a:buChar char="q"/>
            </a:pPr>
            <a:r>
              <a:rPr lang="en-US" sz="2400" b="1" dirty="0">
                <a:solidFill>
                  <a:srgbClr val="663300"/>
                </a:solidFill>
                <a:latin typeface="Times New Roman" panose="02020603050405020304" pitchFamily="18" charset="0"/>
                <a:ea typeface="Times New Roman" panose="02020603050405020304" pitchFamily="18" charset="0"/>
              </a:rPr>
              <a:t>Scikit-learn: </a:t>
            </a:r>
            <a:r>
              <a:rPr lang="en-US" sz="2400" dirty="0">
                <a:solidFill>
                  <a:srgbClr val="663300"/>
                </a:solidFill>
                <a:latin typeface="Times New Roman" panose="02020603050405020304" pitchFamily="18" charset="0"/>
                <a:ea typeface="Times New Roman" panose="02020603050405020304" pitchFamily="18" charset="0"/>
              </a:rPr>
              <a:t>Machine learning library offering tools for classification, regression, clustering, and more, using a simple API.</a:t>
            </a:r>
            <a:endParaRPr lang="en-US" sz="2400" dirty="0">
              <a:solidFill>
                <a:srgbClr val="6633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40362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57EB2A-2B5E-165C-B3DE-2D795071513D}"/>
              </a:ext>
            </a:extLst>
          </p:cNvPr>
          <p:cNvSpPr txBox="1"/>
          <p:nvPr/>
        </p:nvSpPr>
        <p:spPr>
          <a:xfrm>
            <a:off x="973395" y="452284"/>
            <a:ext cx="10353366" cy="1569660"/>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ARCHITECTURE DIAGRAM</a:t>
            </a:r>
          </a:p>
          <a:p>
            <a:pPr algn="ctr"/>
            <a:endParaRPr lang="en-IN" sz="4800" dirty="0">
              <a:solidFill>
                <a:srgbClr val="6633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FFA2C5F-9A33-19E8-73DC-669D50246EF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t="21408"/>
          <a:stretch/>
        </p:blipFill>
        <p:spPr>
          <a:xfrm>
            <a:off x="1096291" y="1681316"/>
            <a:ext cx="9896173" cy="4375487"/>
          </a:xfrm>
          <a:prstGeom prst="rect">
            <a:avLst/>
          </a:prstGeom>
        </p:spPr>
      </p:pic>
    </p:spTree>
    <p:extLst>
      <p:ext uri="{BB962C8B-B14F-4D97-AF65-F5344CB8AC3E}">
        <p14:creationId xmlns:p14="http://schemas.microsoft.com/office/powerpoint/2010/main" val="4067742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ACAF5A-A1B5-AD62-FA12-6A0172EFC7E8}"/>
              </a:ext>
            </a:extLst>
          </p:cNvPr>
          <p:cNvSpPr txBox="1"/>
          <p:nvPr/>
        </p:nvSpPr>
        <p:spPr>
          <a:xfrm>
            <a:off x="3048000" y="694174"/>
            <a:ext cx="6096000"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UML DIAGRAMS</a:t>
            </a:r>
          </a:p>
        </p:txBody>
      </p:sp>
      <p:sp>
        <p:nvSpPr>
          <p:cNvPr id="5" name="TextBox 4">
            <a:extLst>
              <a:ext uri="{FF2B5EF4-FFF2-40B4-BE49-F238E27FC236}">
                <a16:creationId xmlns:a16="http://schemas.microsoft.com/office/drawing/2014/main" id="{64A9B8A1-F83C-A9A2-41FF-7DCACB92EB15}"/>
              </a:ext>
            </a:extLst>
          </p:cNvPr>
          <p:cNvSpPr txBox="1"/>
          <p:nvPr/>
        </p:nvSpPr>
        <p:spPr>
          <a:xfrm>
            <a:off x="2580640" y="2418080"/>
            <a:ext cx="7985760" cy="3089564"/>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en-US" sz="2400" dirty="0">
                <a:solidFill>
                  <a:srgbClr val="663300"/>
                </a:solidFill>
                <a:effectLst/>
                <a:latin typeface="Times New Roman" panose="02020603050405020304" pitchFamily="18" charset="0"/>
                <a:ea typeface="Times New Roman" panose="02020603050405020304" pitchFamily="18" charset="0"/>
              </a:rPr>
              <a:t>CLASS DIAGRAM</a:t>
            </a:r>
          </a:p>
          <a:p>
            <a:pPr marL="342900" lvl="0" indent="-342900" algn="just">
              <a:lnSpc>
                <a:spcPct val="150000"/>
              </a:lnSpc>
              <a:buFont typeface="Wingdings" panose="05000000000000000000" pitchFamily="2" charset="2"/>
              <a:buChar char=""/>
            </a:pPr>
            <a:r>
              <a:rPr lang="en-US" sz="2400" dirty="0">
                <a:solidFill>
                  <a:srgbClr val="663300"/>
                </a:solidFill>
                <a:latin typeface="Times New Roman" panose="02020603050405020304" pitchFamily="18" charset="0"/>
                <a:ea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400" dirty="0">
                <a:solidFill>
                  <a:srgbClr val="663300"/>
                </a:solidFill>
                <a:latin typeface="Times New Roman" panose="02020603050405020304" pitchFamily="18" charset="0"/>
                <a:ea typeface="Times New Roman" panose="02020603050405020304" pitchFamily="18" charset="0"/>
              </a:rPr>
              <a:t>SEQUENCE DIAGRAM</a:t>
            </a:r>
          </a:p>
          <a:p>
            <a:pPr marL="342900" lvl="0" indent="-342900" algn="just">
              <a:lnSpc>
                <a:spcPct val="150000"/>
              </a:lnSpc>
              <a:buFont typeface="Wingdings" panose="05000000000000000000" pitchFamily="2" charset="2"/>
              <a:buChar char=""/>
            </a:pPr>
            <a:r>
              <a:rPr lang="en-US" sz="2400" dirty="0">
                <a:solidFill>
                  <a:srgbClr val="663300"/>
                </a:solidFill>
                <a:effectLst/>
                <a:latin typeface="Times New Roman" panose="02020603050405020304" pitchFamily="18" charset="0"/>
                <a:ea typeface="Times New Roman" panose="02020603050405020304" pitchFamily="18" charset="0"/>
              </a:rPr>
              <a:t>ACTIVITY DIAGRAM</a:t>
            </a:r>
          </a:p>
          <a:p>
            <a:pPr marL="342900" lvl="0" indent="-342900" algn="just">
              <a:lnSpc>
                <a:spcPct val="150000"/>
              </a:lnSpc>
              <a:buFont typeface="Wingdings" panose="05000000000000000000" pitchFamily="2" charset="2"/>
              <a:buChar char=""/>
            </a:pPr>
            <a:endParaRPr lang="en-US" sz="1800" dirty="0">
              <a:solidFill>
                <a:srgbClr val="663300"/>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Wingdings" panose="05000000000000000000" pitchFamily="2" charset="2"/>
              <a:buChar char=""/>
            </a:pPr>
            <a:endParaRPr lang="en-IN" sz="1800" dirty="0">
              <a:solidFill>
                <a:srgbClr val="6633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33564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99D891-A462-8A77-934A-12AD6786E44D}"/>
              </a:ext>
            </a:extLst>
          </p:cNvPr>
          <p:cNvSpPr txBox="1"/>
          <p:nvPr/>
        </p:nvSpPr>
        <p:spPr>
          <a:xfrm>
            <a:off x="1022555" y="471948"/>
            <a:ext cx="10353367"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CLASS DIAGRAM</a:t>
            </a:r>
            <a:endParaRPr lang="en-IN" sz="4800" dirty="0">
              <a:solidFill>
                <a:srgbClr val="6633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57E8E0F-3422-C2CC-E66C-28030E23962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tretch>
            <a:fillRect/>
          </a:stretch>
        </p:blipFill>
        <p:spPr>
          <a:xfrm>
            <a:off x="2173472" y="1399309"/>
            <a:ext cx="8051531" cy="4835236"/>
          </a:xfrm>
          <a:prstGeom prst="rect">
            <a:avLst/>
          </a:prstGeom>
        </p:spPr>
      </p:pic>
    </p:spTree>
    <p:extLst>
      <p:ext uri="{BB962C8B-B14F-4D97-AF65-F5344CB8AC3E}">
        <p14:creationId xmlns:p14="http://schemas.microsoft.com/office/powerpoint/2010/main" val="651017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7A20A7-4252-82D9-85DC-6EA51037DEBE}"/>
              </a:ext>
            </a:extLst>
          </p:cNvPr>
          <p:cNvSpPr txBox="1"/>
          <p:nvPr/>
        </p:nvSpPr>
        <p:spPr>
          <a:xfrm>
            <a:off x="639990" y="197701"/>
            <a:ext cx="10638503"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USE CASE DIAGRAM</a:t>
            </a:r>
            <a:endParaRPr lang="en-IN" sz="4800" dirty="0">
              <a:solidFill>
                <a:srgbClr val="6633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29F15DE-EF8A-DEA8-58F7-5BDA7C7072C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l="3608" t="2128" r="3428" b="2879"/>
          <a:stretch>
            <a:fillRect/>
          </a:stretch>
        </p:blipFill>
        <p:spPr>
          <a:xfrm>
            <a:off x="3127664" y="1101435"/>
            <a:ext cx="5476933" cy="5380792"/>
          </a:xfrm>
          <a:prstGeom prst="rect">
            <a:avLst/>
          </a:prstGeom>
        </p:spPr>
      </p:pic>
    </p:spTree>
    <p:extLst>
      <p:ext uri="{BB962C8B-B14F-4D97-AF65-F5344CB8AC3E}">
        <p14:creationId xmlns:p14="http://schemas.microsoft.com/office/powerpoint/2010/main" val="2385487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387EC2-6E7B-2220-202F-FE43BF8B62C1}"/>
              </a:ext>
            </a:extLst>
          </p:cNvPr>
          <p:cNvSpPr txBox="1"/>
          <p:nvPr/>
        </p:nvSpPr>
        <p:spPr>
          <a:xfrm>
            <a:off x="894735" y="344129"/>
            <a:ext cx="10451691"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SEQUENCE DIAGRAM</a:t>
            </a:r>
            <a:endParaRPr lang="en-IN" sz="4800" dirty="0">
              <a:solidFill>
                <a:srgbClr val="6633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D40A9E2-D5A4-DA3B-824A-0342E0CF8FC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l="15500" t="8739" r="26499" b="24785"/>
          <a:stretch>
            <a:fillRect/>
          </a:stretch>
        </p:blipFill>
        <p:spPr>
          <a:xfrm>
            <a:off x="1953491" y="1319213"/>
            <a:ext cx="8068194" cy="5042622"/>
          </a:xfrm>
          <a:prstGeom prst="rect">
            <a:avLst/>
          </a:prstGeom>
        </p:spPr>
      </p:pic>
    </p:spTree>
    <p:extLst>
      <p:ext uri="{BB962C8B-B14F-4D97-AF65-F5344CB8AC3E}">
        <p14:creationId xmlns:p14="http://schemas.microsoft.com/office/powerpoint/2010/main" val="2423056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F2EFFF-4776-5D99-F1D0-0F91BAD3488E}"/>
              </a:ext>
            </a:extLst>
          </p:cNvPr>
          <p:cNvSpPr txBox="1"/>
          <p:nvPr/>
        </p:nvSpPr>
        <p:spPr>
          <a:xfrm>
            <a:off x="796413" y="220891"/>
            <a:ext cx="10599174"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ACTIVITY DIAGRAM</a:t>
            </a:r>
            <a:endParaRPr lang="en-IN" sz="4800" dirty="0">
              <a:solidFill>
                <a:srgbClr val="6633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06BA600-F5DA-1645-1CDA-F6A6E08DDCA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b="4104"/>
          <a:stretch>
            <a:fillRect/>
          </a:stretch>
        </p:blipFill>
        <p:spPr>
          <a:xfrm>
            <a:off x="3687589" y="1051888"/>
            <a:ext cx="4249881" cy="5262059"/>
          </a:xfrm>
          <a:prstGeom prst="rect">
            <a:avLst/>
          </a:prstGeom>
        </p:spPr>
      </p:pic>
    </p:spTree>
    <p:extLst>
      <p:ext uri="{BB962C8B-B14F-4D97-AF65-F5344CB8AC3E}">
        <p14:creationId xmlns:p14="http://schemas.microsoft.com/office/powerpoint/2010/main" val="1788386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C308A-0785-5093-AF8D-8A3FC3DADEE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t="1423" b="2939"/>
          <a:stretch>
            <a:fillRect/>
          </a:stretch>
        </p:blipFill>
        <p:spPr>
          <a:xfrm>
            <a:off x="3692325" y="648182"/>
            <a:ext cx="4213184" cy="5474826"/>
          </a:xfrm>
          <a:prstGeom prst="rect">
            <a:avLst/>
          </a:prstGeom>
        </p:spPr>
      </p:pic>
    </p:spTree>
    <p:extLst>
      <p:ext uri="{BB962C8B-B14F-4D97-AF65-F5344CB8AC3E}">
        <p14:creationId xmlns:p14="http://schemas.microsoft.com/office/powerpoint/2010/main" val="3146489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11A39E-11BF-4D9E-2A32-BAB976A92793}"/>
              </a:ext>
            </a:extLst>
          </p:cNvPr>
          <p:cNvPicPr>
            <a:picLocks noChangeAspect="1"/>
          </p:cNvPicPr>
          <p:nvPr/>
        </p:nvPicPr>
        <p:blipFill>
          <a:blip r:embed="rId2"/>
          <a:stretch>
            <a:fillRect/>
          </a:stretch>
        </p:blipFill>
        <p:spPr>
          <a:xfrm>
            <a:off x="688259" y="552200"/>
            <a:ext cx="5407742" cy="5753599"/>
          </a:xfrm>
          <a:prstGeom prst="rect">
            <a:avLst/>
          </a:prstGeom>
        </p:spPr>
      </p:pic>
      <p:pic>
        <p:nvPicPr>
          <p:cNvPr id="4" name="Picture 3">
            <a:extLst>
              <a:ext uri="{FF2B5EF4-FFF2-40B4-BE49-F238E27FC236}">
                <a16:creationId xmlns:a16="http://schemas.microsoft.com/office/drawing/2014/main" id="{8AAC9737-4772-249B-2B05-A970CA8BC543}"/>
              </a:ext>
            </a:extLst>
          </p:cNvPr>
          <p:cNvPicPr>
            <a:picLocks noChangeAspect="1"/>
          </p:cNvPicPr>
          <p:nvPr/>
        </p:nvPicPr>
        <p:blipFill>
          <a:blip r:embed="rId3"/>
          <a:stretch>
            <a:fillRect/>
          </a:stretch>
        </p:blipFill>
        <p:spPr>
          <a:xfrm>
            <a:off x="6255328" y="552200"/>
            <a:ext cx="5248414" cy="5753599"/>
          </a:xfrm>
          <a:prstGeom prst="rect">
            <a:avLst/>
          </a:prstGeom>
        </p:spPr>
      </p:pic>
    </p:spTree>
    <p:extLst>
      <p:ext uri="{BB962C8B-B14F-4D97-AF65-F5344CB8AC3E}">
        <p14:creationId xmlns:p14="http://schemas.microsoft.com/office/powerpoint/2010/main" val="1952957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EABD51-2ACE-6F50-8E05-DBB81090B0E8}"/>
              </a:ext>
            </a:extLst>
          </p:cNvPr>
          <p:cNvPicPr>
            <a:picLocks noChangeAspect="1"/>
          </p:cNvPicPr>
          <p:nvPr/>
        </p:nvPicPr>
        <p:blipFill>
          <a:blip r:embed="rId2">
            <a:extLst>
              <a:ext uri="{28A0092B-C50C-407E-A947-70E740481C1C}">
                <a14:useLocalDpi xmlns:a14="http://schemas.microsoft.com/office/drawing/2010/main" val="0"/>
              </a:ext>
            </a:extLst>
          </a:blip>
          <a:srcRect b="6104"/>
          <a:stretch/>
        </p:blipFill>
        <p:spPr>
          <a:xfrm>
            <a:off x="706582" y="561108"/>
            <a:ext cx="5569527" cy="5434447"/>
          </a:xfrm>
          <a:prstGeom prst="rect">
            <a:avLst/>
          </a:prstGeom>
        </p:spPr>
      </p:pic>
      <p:pic>
        <p:nvPicPr>
          <p:cNvPr id="5" name="Picture 4">
            <a:extLst>
              <a:ext uri="{FF2B5EF4-FFF2-40B4-BE49-F238E27FC236}">
                <a16:creationId xmlns:a16="http://schemas.microsoft.com/office/drawing/2014/main" id="{BF4E92E9-0CD3-55D3-46F6-E800B3306686}"/>
              </a:ext>
            </a:extLst>
          </p:cNvPr>
          <p:cNvPicPr>
            <a:picLocks noChangeAspect="1"/>
          </p:cNvPicPr>
          <p:nvPr/>
        </p:nvPicPr>
        <p:blipFill>
          <a:blip r:embed="rId3"/>
          <a:srcRect b="5765"/>
          <a:stretch/>
        </p:blipFill>
        <p:spPr>
          <a:xfrm>
            <a:off x="6452755" y="561108"/>
            <a:ext cx="5032663" cy="5434447"/>
          </a:xfrm>
          <a:prstGeom prst="rect">
            <a:avLst/>
          </a:prstGeom>
        </p:spPr>
      </p:pic>
    </p:spTree>
    <p:extLst>
      <p:ext uri="{BB962C8B-B14F-4D97-AF65-F5344CB8AC3E}">
        <p14:creationId xmlns:p14="http://schemas.microsoft.com/office/powerpoint/2010/main" val="2251654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AD2BD0-EB31-E3F1-3678-254D6703FE06}"/>
              </a:ext>
            </a:extLst>
          </p:cNvPr>
          <p:cNvPicPr>
            <a:picLocks noChangeAspect="1"/>
          </p:cNvPicPr>
          <p:nvPr/>
        </p:nvPicPr>
        <p:blipFill>
          <a:blip r:embed="rId2"/>
          <a:srcRect b="5779"/>
          <a:stretch/>
        </p:blipFill>
        <p:spPr>
          <a:xfrm>
            <a:off x="737755" y="540327"/>
            <a:ext cx="5358244" cy="5590309"/>
          </a:xfrm>
          <a:prstGeom prst="rect">
            <a:avLst/>
          </a:prstGeom>
        </p:spPr>
      </p:pic>
      <p:pic>
        <p:nvPicPr>
          <p:cNvPr id="5" name="Picture 4">
            <a:extLst>
              <a:ext uri="{FF2B5EF4-FFF2-40B4-BE49-F238E27FC236}">
                <a16:creationId xmlns:a16="http://schemas.microsoft.com/office/drawing/2014/main" id="{2DDB352A-A04A-6063-5F9E-6404C48E6520}"/>
              </a:ext>
            </a:extLst>
          </p:cNvPr>
          <p:cNvPicPr>
            <a:picLocks noChangeAspect="1"/>
          </p:cNvPicPr>
          <p:nvPr/>
        </p:nvPicPr>
        <p:blipFill>
          <a:blip r:embed="rId3"/>
          <a:srcRect b="5114"/>
          <a:stretch/>
        </p:blipFill>
        <p:spPr>
          <a:xfrm>
            <a:off x="6213764" y="540327"/>
            <a:ext cx="5240481" cy="5590309"/>
          </a:xfrm>
          <a:prstGeom prst="rect">
            <a:avLst/>
          </a:prstGeom>
        </p:spPr>
      </p:pic>
    </p:spTree>
    <p:extLst>
      <p:ext uri="{BB962C8B-B14F-4D97-AF65-F5344CB8AC3E}">
        <p14:creationId xmlns:p14="http://schemas.microsoft.com/office/powerpoint/2010/main" val="3461294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7CA5B5-CE65-D27B-1655-9DAAC92E76A7}"/>
              </a:ext>
            </a:extLst>
          </p:cNvPr>
          <p:cNvPicPr>
            <a:picLocks noChangeAspect="1"/>
          </p:cNvPicPr>
          <p:nvPr/>
        </p:nvPicPr>
        <p:blipFill>
          <a:blip r:embed="rId2"/>
          <a:srcRect b="5810"/>
          <a:stretch/>
        </p:blipFill>
        <p:spPr>
          <a:xfrm>
            <a:off x="661553" y="529937"/>
            <a:ext cx="5507183" cy="5559138"/>
          </a:xfrm>
          <a:prstGeom prst="rect">
            <a:avLst/>
          </a:prstGeom>
        </p:spPr>
      </p:pic>
      <p:pic>
        <p:nvPicPr>
          <p:cNvPr id="4" name="Picture 3">
            <a:extLst>
              <a:ext uri="{FF2B5EF4-FFF2-40B4-BE49-F238E27FC236}">
                <a16:creationId xmlns:a16="http://schemas.microsoft.com/office/drawing/2014/main" id="{7556B118-7081-0478-466D-8901D6E2E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8064" y="529936"/>
            <a:ext cx="5202383" cy="5559139"/>
          </a:xfrm>
          <a:prstGeom prst="rect">
            <a:avLst/>
          </a:prstGeom>
        </p:spPr>
      </p:pic>
      <p:pic>
        <p:nvPicPr>
          <p:cNvPr id="7" name="Picture 6">
            <a:extLst>
              <a:ext uri="{FF2B5EF4-FFF2-40B4-BE49-F238E27FC236}">
                <a16:creationId xmlns:a16="http://schemas.microsoft.com/office/drawing/2014/main" id="{7D04F896-FB27-1C4C-CB3A-EF749F3D7A0E}"/>
              </a:ext>
            </a:extLst>
          </p:cNvPr>
          <p:cNvPicPr>
            <a:picLocks noChangeAspect="1"/>
          </p:cNvPicPr>
          <p:nvPr/>
        </p:nvPicPr>
        <p:blipFill>
          <a:blip r:embed="rId4">
            <a:extLst>
              <a:ext uri="{28A0092B-C50C-407E-A947-70E740481C1C}">
                <a14:useLocalDpi xmlns:a14="http://schemas.microsoft.com/office/drawing/2010/main" val="0"/>
              </a:ext>
            </a:extLst>
          </a:blip>
          <a:srcRect t="75175"/>
          <a:stretch>
            <a:fillRect/>
          </a:stretch>
        </p:blipFill>
        <p:spPr>
          <a:xfrm>
            <a:off x="6328064" y="4634346"/>
            <a:ext cx="5202383" cy="1454729"/>
          </a:xfrm>
          <a:prstGeom prst="rect">
            <a:avLst/>
          </a:prstGeom>
        </p:spPr>
      </p:pic>
    </p:spTree>
    <p:extLst>
      <p:ext uri="{BB962C8B-B14F-4D97-AF65-F5344CB8AC3E}">
        <p14:creationId xmlns:p14="http://schemas.microsoft.com/office/powerpoint/2010/main" val="488272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C7A74E-1648-F92B-6C61-E571DED028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80" y="488372"/>
            <a:ext cx="5303520" cy="5486401"/>
          </a:xfrm>
          <a:prstGeom prst="rect">
            <a:avLst/>
          </a:prstGeom>
        </p:spPr>
      </p:pic>
      <p:pic>
        <p:nvPicPr>
          <p:cNvPr id="4" name="Picture 3">
            <a:extLst>
              <a:ext uri="{FF2B5EF4-FFF2-40B4-BE49-F238E27FC236}">
                <a16:creationId xmlns:a16="http://schemas.microsoft.com/office/drawing/2014/main" id="{6986AC4F-7490-9011-CE2B-AB8A65871AD0}"/>
              </a:ext>
            </a:extLst>
          </p:cNvPr>
          <p:cNvPicPr>
            <a:picLocks noChangeAspect="1"/>
          </p:cNvPicPr>
          <p:nvPr/>
        </p:nvPicPr>
        <p:blipFill>
          <a:blip r:embed="rId3">
            <a:extLst>
              <a:ext uri="{28A0092B-C50C-407E-A947-70E740481C1C}">
                <a14:useLocalDpi xmlns:a14="http://schemas.microsoft.com/office/drawing/2010/main" val="0"/>
              </a:ext>
            </a:extLst>
          </a:blip>
          <a:srcRect t="73804"/>
          <a:stretch>
            <a:fillRect/>
          </a:stretch>
        </p:blipFill>
        <p:spPr>
          <a:xfrm>
            <a:off x="690880" y="4582160"/>
            <a:ext cx="5303520" cy="1392613"/>
          </a:xfrm>
          <a:prstGeom prst="rect">
            <a:avLst/>
          </a:prstGeom>
        </p:spPr>
      </p:pic>
      <p:pic>
        <p:nvPicPr>
          <p:cNvPr id="8" name="Picture 7">
            <a:extLst>
              <a:ext uri="{FF2B5EF4-FFF2-40B4-BE49-F238E27FC236}">
                <a16:creationId xmlns:a16="http://schemas.microsoft.com/office/drawing/2014/main" id="{D9C1436F-8F91-2654-1C25-C37BA6C759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88372"/>
            <a:ext cx="5486400" cy="5486401"/>
          </a:xfrm>
          <a:prstGeom prst="rect">
            <a:avLst/>
          </a:prstGeom>
        </p:spPr>
      </p:pic>
      <p:pic>
        <p:nvPicPr>
          <p:cNvPr id="10" name="Picture 9">
            <a:extLst>
              <a:ext uri="{FF2B5EF4-FFF2-40B4-BE49-F238E27FC236}">
                <a16:creationId xmlns:a16="http://schemas.microsoft.com/office/drawing/2014/main" id="{15F28ADF-A4BD-6ED8-BE76-6525409745D8}"/>
              </a:ext>
            </a:extLst>
          </p:cNvPr>
          <p:cNvPicPr>
            <a:picLocks noChangeAspect="1"/>
          </p:cNvPicPr>
          <p:nvPr/>
        </p:nvPicPr>
        <p:blipFill>
          <a:blip r:embed="rId5">
            <a:extLst>
              <a:ext uri="{28A0092B-C50C-407E-A947-70E740481C1C}">
                <a14:useLocalDpi xmlns:a14="http://schemas.microsoft.com/office/drawing/2010/main" val="0"/>
              </a:ext>
            </a:extLst>
          </a:blip>
          <a:srcRect t="75877"/>
          <a:stretch>
            <a:fillRect/>
          </a:stretch>
        </p:blipFill>
        <p:spPr>
          <a:xfrm>
            <a:off x="6096000" y="4582160"/>
            <a:ext cx="5486400" cy="1392613"/>
          </a:xfrm>
          <a:prstGeom prst="rect">
            <a:avLst/>
          </a:prstGeom>
        </p:spPr>
      </p:pic>
    </p:spTree>
    <p:extLst>
      <p:ext uri="{BB962C8B-B14F-4D97-AF65-F5344CB8AC3E}">
        <p14:creationId xmlns:p14="http://schemas.microsoft.com/office/powerpoint/2010/main" val="305072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7D5C2-3019-6E89-111C-51ADC4AD831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84540F4-4E68-D24A-0E00-FFF3838E6E87}"/>
              </a:ext>
            </a:extLst>
          </p:cNvPr>
          <p:cNvPicPr>
            <a:picLocks noChangeAspect="1"/>
          </p:cNvPicPr>
          <p:nvPr/>
        </p:nvPicPr>
        <p:blipFill>
          <a:blip r:embed="rId2">
            <a:extLst>
              <a:ext uri="{28A0092B-C50C-407E-A947-70E740481C1C}">
                <a14:useLocalDpi xmlns:a14="http://schemas.microsoft.com/office/drawing/2010/main" val="0"/>
              </a:ext>
            </a:extLst>
          </a:blip>
          <a:srcRect b="5965"/>
          <a:stretch/>
        </p:blipFill>
        <p:spPr>
          <a:xfrm>
            <a:off x="6338455" y="519546"/>
            <a:ext cx="5136573" cy="5569527"/>
          </a:xfrm>
          <a:prstGeom prst="rect">
            <a:avLst/>
          </a:prstGeom>
        </p:spPr>
      </p:pic>
      <p:pic>
        <p:nvPicPr>
          <p:cNvPr id="4" name="Picture 3">
            <a:extLst>
              <a:ext uri="{FF2B5EF4-FFF2-40B4-BE49-F238E27FC236}">
                <a16:creationId xmlns:a16="http://schemas.microsoft.com/office/drawing/2014/main" id="{C17B3699-068D-F644-CACC-0F2215FF60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236" y="446809"/>
            <a:ext cx="5569528" cy="5642264"/>
          </a:xfrm>
          <a:prstGeom prst="rect">
            <a:avLst/>
          </a:prstGeom>
        </p:spPr>
      </p:pic>
      <p:pic>
        <p:nvPicPr>
          <p:cNvPr id="6" name="Picture 5">
            <a:extLst>
              <a:ext uri="{FF2B5EF4-FFF2-40B4-BE49-F238E27FC236}">
                <a16:creationId xmlns:a16="http://schemas.microsoft.com/office/drawing/2014/main" id="{7F32253B-AA67-BEC0-C511-49E206FAE696}"/>
              </a:ext>
            </a:extLst>
          </p:cNvPr>
          <p:cNvPicPr>
            <a:picLocks noChangeAspect="1"/>
          </p:cNvPicPr>
          <p:nvPr/>
        </p:nvPicPr>
        <p:blipFill>
          <a:blip r:embed="rId4">
            <a:extLst>
              <a:ext uri="{28A0092B-C50C-407E-A947-70E740481C1C}">
                <a14:useLocalDpi xmlns:a14="http://schemas.microsoft.com/office/drawing/2010/main" val="0"/>
              </a:ext>
            </a:extLst>
          </a:blip>
          <a:srcRect t="74466"/>
          <a:stretch>
            <a:fillRect/>
          </a:stretch>
        </p:blipFill>
        <p:spPr>
          <a:xfrm>
            <a:off x="644236" y="4644736"/>
            <a:ext cx="5569528" cy="1444337"/>
          </a:xfrm>
          <a:prstGeom prst="rect">
            <a:avLst/>
          </a:prstGeom>
        </p:spPr>
      </p:pic>
    </p:spTree>
    <p:extLst>
      <p:ext uri="{BB962C8B-B14F-4D97-AF65-F5344CB8AC3E}">
        <p14:creationId xmlns:p14="http://schemas.microsoft.com/office/powerpoint/2010/main" val="3397564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20157-5AA3-81BA-8E8D-D6108E220D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82EBBBE-C029-38F1-65F0-C3AE4D47C4D6}"/>
              </a:ext>
            </a:extLst>
          </p:cNvPr>
          <p:cNvPicPr>
            <a:picLocks noChangeAspect="1"/>
          </p:cNvPicPr>
          <p:nvPr/>
        </p:nvPicPr>
        <p:blipFill>
          <a:blip r:embed="rId2">
            <a:extLst>
              <a:ext uri="{28A0092B-C50C-407E-A947-70E740481C1C}">
                <a14:useLocalDpi xmlns:a14="http://schemas.microsoft.com/office/drawing/2010/main" val="0"/>
              </a:ext>
            </a:extLst>
          </a:blip>
          <a:srcRect b="6352"/>
          <a:stretch/>
        </p:blipFill>
        <p:spPr>
          <a:xfrm>
            <a:off x="696190" y="613064"/>
            <a:ext cx="5112328" cy="5361709"/>
          </a:xfrm>
          <a:prstGeom prst="rect">
            <a:avLst/>
          </a:prstGeom>
        </p:spPr>
      </p:pic>
      <p:pic>
        <p:nvPicPr>
          <p:cNvPr id="5" name="Picture 4">
            <a:extLst>
              <a:ext uri="{FF2B5EF4-FFF2-40B4-BE49-F238E27FC236}">
                <a16:creationId xmlns:a16="http://schemas.microsoft.com/office/drawing/2014/main" id="{D94007C0-A17F-7A2D-8127-6EEDFBDF11B3}"/>
              </a:ext>
            </a:extLst>
          </p:cNvPr>
          <p:cNvPicPr>
            <a:picLocks noChangeAspect="1"/>
          </p:cNvPicPr>
          <p:nvPr/>
        </p:nvPicPr>
        <p:blipFill>
          <a:blip r:embed="rId3">
            <a:extLst>
              <a:ext uri="{28A0092B-C50C-407E-A947-70E740481C1C}">
                <a14:useLocalDpi xmlns:a14="http://schemas.microsoft.com/office/drawing/2010/main" val="0"/>
              </a:ext>
            </a:extLst>
          </a:blip>
          <a:srcRect b="5667"/>
          <a:stretch/>
        </p:blipFill>
        <p:spPr>
          <a:xfrm>
            <a:off x="5943600" y="613064"/>
            <a:ext cx="5552210" cy="5361709"/>
          </a:xfrm>
          <a:prstGeom prst="rect">
            <a:avLst/>
          </a:prstGeom>
        </p:spPr>
      </p:pic>
    </p:spTree>
    <p:extLst>
      <p:ext uri="{BB962C8B-B14F-4D97-AF65-F5344CB8AC3E}">
        <p14:creationId xmlns:p14="http://schemas.microsoft.com/office/powerpoint/2010/main" val="105808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7534B9-4E9E-7697-F3A0-CCCA292EC971}"/>
              </a:ext>
            </a:extLst>
          </p:cNvPr>
          <p:cNvPicPr>
            <a:picLocks noChangeAspect="1"/>
          </p:cNvPicPr>
          <p:nvPr/>
        </p:nvPicPr>
        <p:blipFill>
          <a:blip r:embed="rId2">
            <a:extLst>
              <a:ext uri="{28A0092B-C50C-407E-A947-70E740481C1C}">
                <a14:useLocalDpi xmlns:a14="http://schemas.microsoft.com/office/drawing/2010/main" val="0"/>
              </a:ext>
            </a:extLst>
          </a:blip>
          <a:srcRect b="5300"/>
          <a:stretch/>
        </p:blipFill>
        <p:spPr>
          <a:xfrm>
            <a:off x="706581" y="644236"/>
            <a:ext cx="5559137" cy="5569527"/>
          </a:xfrm>
          <a:prstGeom prst="rect">
            <a:avLst/>
          </a:prstGeom>
        </p:spPr>
      </p:pic>
      <p:pic>
        <p:nvPicPr>
          <p:cNvPr id="5" name="Picture 4">
            <a:extLst>
              <a:ext uri="{FF2B5EF4-FFF2-40B4-BE49-F238E27FC236}">
                <a16:creationId xmlns:a16="http://schemas.microsoft.com/office/drawing/2014/main" id="{44C75E8B-DE18-2533-24BA-42C34B3E794F}"/>
              </a:ext>
            </a:extLst>
          </p:cNvPr>
          <p:cNvPicPr>
            <a:picLocks noChangeAspect="1"/>
          </p:cNvPicPr>
          <p:nvPr/>
        </p:nvPicPr>
        <p:blipFill>
          <a:blip r:embed="rId3">
            <a:extLst>
              <a:ext uri="{28A0092B-C50C-407E-A947-70E740481C1C}">
                <a14:useLocalDpi xmlns:a14="http://schemas.microsoft.com/office/drawing/2010/main" val="0"/>
              </a:ext>
            </a:extLst>
          </a:blip>
          <a:srcRect b="6417"/>
          <a:stretch/>
        </p:blipFill>
        <p:spPr>
          <a:xfrm>
            <a:off x="6421582" y="644236"/>
            <a:ext cx="5063837" cy="5569526"/>
          </a:xfrm>
          <a:prstGeom prst="rect">
            <a:avLst/>
          </a:prstGeom>
        </p:spPr>
      </p:pic>
    </p:spTree>
    <p:extLst>
      <p:ext uri="{BB962C8B-B14F-4D97-AF65-F5344CB8AC3E}">
        <p14:creationId xmlns:p14="http://schemas.microsoft.com/office/powerpoint/2010/main" val="1300036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1F8298-7898-E773-2AE0-44F4679F37A1}"/>
              </a:ext>
            </a:extLst>
          </p:cNvPr>
          <p:cNvPicPr>
            <a:picLocks noChangeAspect="1"/>
          </p:cNvPicPr>
          <p:nvPr/>
        </p:nvPicPr>
        <p:blipFill>
          <a:blip r:embed="rId2">
            <a:extLst>
              <a:ext uri="{28A0092B-C50C-407E-A947-70E740481C1C}">
                <a14:useLocalDpi xmlns:a14="http://schemas.microsoft.com/office/drawing/2010/main" val="0"/>
              </a:ext>
            </a:extLst>
          </a:blip>
          <a:srcRect b="6584"/>
          <a:stretch/>
        </p:blipFill>
        <p:spPr>
          <a:xfrm>
            <a:off x="685800" y="519545"/>
            <a:ext cx="5507182" cy="5455228"/>
          </a:xfrm>
          <a:prstGeom prst="rect">
            <a:avLst/>
          </a:prstGeom>
        </p:spPr>
      </p:pic>
      <p:pic>
        <p:nvPicPr>
          <p:cNvPr id="7" name="Picture 6">
            <a:extLst>
              <a:ext uri="{FF2B5EF4-FFF2-40B4-BE49-F238E27FC236}">
                <a16:creationId xmlns:a16="http://schemas.microsoft.com/office/drawing/2014/main" id="{5C5ADD0F-14BB-7D68-7DF3-6F18884BFEFD}"/>
              </a:ext>
            </a:extLst>
          </p:cNvPr>
          <p:cNvPicPr>
            <a:picLocks noChangeAspect="1"/>
          </p:cNvPicPr>
          <p:nvPr/>
        </p:nvPicPr>
        <p:blipFill>
          <a:blip r:embed="rId3">
            <a:extLst>
              <a:ext uri="{28A0092B-C50C-407E-A947-70E740481C1C}">
                <a14:useLocalDpi xmlns:a14="http://schemas.microsoft.com/office/drawing/2010/main" val="0"/>
              </a:ext>
            </a:extLst>
          </a:blip>
          <a:srcRect b="6255"/>
          <a:stretch/>
        </p:blipFill>
        <p:spPr>
          <a:xfrm>
            <a:off x="6286500" y="524112"/>
            <a:ext cx="5219700" cy="5450661"/>
          </a:xfrm>
          <a:prstGeom prst="rect">
            <a:avLst/>
          </a:prstGeom>
        </p:spPr>
      </p:pic>
    </p:spTree>
    <p:extLst>
      <p:ext uri="{BB962C8B-B14F-4D97-AF65-F5344CB8AC3E}">
        <p14:creationId xmlns:p14="http://schemas.microsoft.com/office/powerpoint/2010/main" val="2160709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05BBCA-AA0F-B79A-F905-F935D815C3B0}"/>
              </a:ext>
            </a:extLst>
          </p:cNvPr>
          <p:cNvPicPr>
            <a:picLocks noChangeAspect="1"/>
          </p:cNvPicPr>
          <p:nvPr/>
        </p:nvPicPr>
        <p:blipFill>
          <a:blip r:embed="rId2">
            <a:extLst>
              <a:ext uri="{28A0092B-C50C-407E-A947-70E740481C1C}">
                <a14:useLocalDpi xmlns:a14="http://schemas.microsoft.com/office/drawing/2010/main" val="0"/>
              </a:ext>
            </a:extLst>
          </a:blip>
          <a:srcRect b="5331"/>
          <a:stretch/>
        </p:blipFill>
        <p:spPr>
          <a:xfrm>
            <a:off x="665019" y="644236"/>
            <a:ext cx="5430982" cy="5351319"/>
          </a:xfrm>
          <a:prstGeom prst="rect">
            <a:avLst/>
          </a:prstGeom>
        </p:spPr>
      </p:pic>
      <p:pic>
        <p:nvPicPr>
          <p:cNvPr id="5" name="Picture 4">
            <a:extLst>
              <a:ext uri="{FF2B5EF4-FFF2-40B4-BE49-F238E27FC236}">
                <a16:creationId xmlns:a16="http://schemas.microsoft.com/office/drawing/2014/main" id="{B62BE22A-706F-7669-31B3-AEF222D1AFEE}"/>
              </a:ext>
            </a:extLst>
          </p:cNvPr>
          <p:cNvPicPr>
            <a:picLocks noChangeAspect="1"/>
          </p:cNvPicPr>
          <p:nvPr/>
        </p:nvPicPr>
        <p:blipFill>
          <a:blip r:embed="rId3"/>
          <a:srcRect b="5505"/>
          <a:stretch/>
        </p:blipFill>
        <p:spPr>
          <a:xfrm>
            <a:off x="6214542" y="644236"/>
            <a:ext cx="5312440" cy="5351319"/>
          </a:xfrm>
          <a:prstGeom prst="rect">
            <a:avLst/>
          </a:prstGeom>
        </p:spPr>
      </p:pic>
    </p:spTree>
    <p:extLst>
      <p:ext uri="{BB962C8B-B14F-4D97-AF65-F5344CB8AC3E}">
        <p14:creationId xmlns:p14="http://schemas.microsoft.com/office/powerpoint/2010/main" val="2414908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01BDDA-B3E2-B733-E73C-295462EA983C}"/>
              </a:ext>
            </a:extLst>
          </p:cNvPr>
          <p:cNvSpPr txBox="1"/>
          <p:nvPr/>
        </p:nvSpPr>
        <p:spPr>
          <a:xfrm>
            <a:off x="1592132" y="2000922"/>
            <a:ext cx="9337637" cy="1946943"/>
          </a:xfrm>
          <a:prstGeom prst="rect">
            <a:avLst/>
          </a:prstGeom>
          <a:noFill/>
        </p:spPr>
        <p:txBody>
          <a:bodyPr wrap="square">
            <a:spAutoFit/>
          </a:bodyPr>
          <a:lstStyle/>
          <a:p>
            <a:pPr algn="just">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t>AI misuse poses serious digital threats like deepfakes, AI-driven phishing, and autonomous cyberattacks. Existing systems lack the adaptability to counter these. The proposed system uses intelligent algorithms, real-time anomaly detection, and self-learning to identify and stop AI-enabled threats. This approach strengthens cybersecurity by improving detection and reducing response time, ensuring safer and more responsible use of AI technologies.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686FC11-AB6E-D274-43FC-4007435B12DB}"/>
              </a:ext>
            </a:extLst>
          </p:cNvPr>
          <p:cNvSpPr txBox="1"/>
          <p:nvPr/>
        </p:nvSpPr>
        <p:spPr>
          <a:xfrm>
            <a:off x="2764715" y="817581"/>
            <a:ext cx="6376595" cy="830997"/>
          </a:xfrm>
          <a:prstGeom prst="rect">
            <a:avLst/>
          </a:prstGeom>
          <a:noFill/>
        </p:spPr>
        <p:txBody>
          <a:bodyPr wrap="square">
            <a:spAutoFit/>
          </a:bodyPr>
          <a:lstStyle/>
          <a:p>
            <a:pPr algn="ctr"/>
            <a:r>
              <a:rPr lang="en-US" sz="4800" dirty="0">
                <a:solidFill>
                  <a:srgbClr val="663300"/>
                </a:solidFill>
                <a:latin typeface="Times New Roman" panose="02020603050405020304" pitchFamily="18" charset="0"/>
                <a:cs typeface="Times New Roman" panose="02020603050405020304" pitchFamily="18" charset="0"/>
              </a:rPr>
              <a:t>CONCLUSION</a:t>
            </a:r>
            <a:endParaRPr lang="en-IN" sz="4800" dirty="0">
              <a:solidFill>
                <a:srgbClr val="66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302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2BFC-D2EE-61DA-7E05-21B27673EE78}"/>
              </a:ext>
            </a:extLst>
          </p:cNvPr>
          <p:cNvSpPr>
            <a:spLocks noGrp="1"/>
          </p:cNvSpPr>
          <p:nvPr>
            <p:ph type="title"/>
          </p:nvPr>
        </p:nvSpPr>
        <p:spPr>
          <a:xfrm>
            <a:off x="1710811" y="1081547"/>
            <a:ext cx="9399641" cy="4286865"/>
          </a:xfrm>
        </p:spPr>
        <p:txBody>
          <a:bodyPr>
            <a:normAutofit/>
          </a:bodyPr>
          <a:lstStyle/>
          <a:p>
            <a:pPr algn="ctr"/>
            <a:r>
              <a:rPr lang="en-US" sz="5400" b="1" dirty="0">
                <a:solidFill>
                  <a:srgbClr val="663300"/>
                </a:solidFill>
                <a:latin typeface="Times New Roman" panose="02020603050405020304" pitchFamily="18" charset="0"/>
                <a:cs typeface="Times New Roman" panose="02020603050405020304" pitchFamily="18" charset="0"/>
              </a:rPr>
              <a:t>THANK YOU</a:t>
            </a:r>
            <a:endParaRPr lang="en-IN" sz="5400" b="1" dirty="0">
              <a:solidFill>
                <a:srgbClr val="66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3446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732</TotalTime>
  <Words>767</Words>
  <Application>Microsoft Office PowerPoint</Application>
  <PresentationFormat>Widescreen</PresentationFormat>
  <Paragraphs>63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shravika gupta</dc:creator>
  <cp:lastModifiedBy>shravika gupta</cp:lastModifiedBy>
  <cp:revision>19</cp:revision>
  <dcterms:created xsi:type="dcterms:W3CDTF">2025-04-27T07:16:30Z</dcterms:created>
  <dcterms:modified xsi:type="dcterms:W3CDTF">2025-06-17T15:26:19Z</dcterms:modified>
</cp:coreProperties>
</file>